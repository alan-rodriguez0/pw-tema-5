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Glacial Indifference Bold" charset="1" panose="00000800000000000000"/>
      <p:regular r:id="rId26"/>
    </p:embeddedFont>
    <p:embeddedFont>
      <p:font typeface="Montserrat Light" charset="1" panose="00000400000000000000"/>
      <p:regular r:id="rId27"/>
    </p:embeddedFont>
    <p:embeddedFont>
      <p:font typeface="Montserrat Light Bold" charset="1" panose="00000800000000000000"/>
      <p:regular r:id="rId28"/>
    </p:embeddedFont>
    <p:embeddedFont>
      <p:font typeface="Glacial Indifference" charset="1" panose="0000000000000000000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74000" y="197121"/>
            <a:ext cx="4491635" cy="1006559"/>
          </a:xfrm>
          <a:custGeom>
            <a:avLst/>
            <a:gdLst/>
            <a:ahLst/>
            <a:cxnLst/>
            <a:rect r="r" b="b" t="t" l="l"/>
            <a:pathLst>
              <a:path h="1006559" w="4491635">
                <a:moveTo>
                  <a:pt x="0" y="0"/>
                </a:moveTo>
                <a:lnTo>
                  <a:pt x="4491635" y="0"/>
                </a:lnTo>
                <a:lnTo>
                  <a:pt x="4491635" y="1006559"/>
                </a:lnTo>
                <a:lnTo>
                  <a:pt x="0" y="1006559"/>
                </a:lnTo>
                <a:lnTo>
                  <a:pt x="0" y="0"/>
                </a:lnTo>
                <a:close/>
              </a:path>
            </a:pathLst>
          </a:custGeom>
          <a:blipFill>
            <a:blip r:embed="rId2"/>
            <a:stretch>
              <a:fillRect l="0" t="0" r="0" b="0"/>
            </a:stretch>
          </a:blipFill>
        </p:spPr>
      </p:sp>
      <p:sp>
        <p:nvSpPr>
          <p:cNvPr name="Freeform 3" id="3"/>
          <p:cNvSpPr/>
          <p:nvPr/>
        </p:nvSpPr>
        <p:spPr>
          <a:xfrm flipH="false" flipV="false" rot="0">
            <a:off x="7962946" y="197121"/>
            <a:ext cx="2362107" cy="1156448"/>
          </a:xfrm>
          <a:custGeom>
            <a:avLst/>
            <a:gdLst/>
            <a:ahLst/>
            <a:cxnLst/>
            <a:rect r="r" b="b" t="t" l="l"/>
            <a:pathLst>
              <a:path h="1156448" w="2362107">
                <a:moveTo>
                  <a:pt x="0" y="0"/>
                </a:moveTo>
                <a:lnTo>
                  <a:pt x="2362108" y="0"/>
                </a:lnTo>
                <a:lnTo>
                  <a:pt x="2362108" y="1156448"/>
                </a:lnTo>
                <a:lnTo>
                  <a:pt x="0" y="1156448"/>
                </a:lnTo>
                <a:lnTo>
                  <a:pt x="0" y="0"/>
                </a:lnTo>
                <a:close/>
              </a:path>
            </a:pathLst>
          </a:custGeom>
          <a:blipFill>
            <a:blip r:embed="rId3"/>
            <a:stretch>
              <a:fillRect l="0" t="0" r="0" b="0"/>
            </a:stretch>
          </a:blipFill>
        </p:spPr>
      </p:sp>
      <p:sp>
        <p:nvSpPr>
          <p:cNvPr name="Freeform 4" id="4"/>
          <p:cNvSpPr/>
          <p:nvPr/>
        </p:nvSpPr>
        <p:spPr>
          <a:xfrm flipH="false" flipV="false" rot="0">
            <a:off x="15344547" y="197121"/>
            <a:ext cx="1878990" cy="1371547"/>
          </a:xfrm>
          <a:custGeom>
            <a:avLst/>
            <a:gdLst/>
            <a:ahLst/>
            <a:cxnLst/>
            <a:rect r="r" b="b" t="t" l="l"/>
            <a:pathLst>
              <a:path h="1371547" w="1878990">
                <a:moveTo>
                  <a:pt x="0" y="0"/>
                </a:moveTo>
                <a:lnTo>
                  <a:pt x="1878991" y="0"/>
                </a:lnTo>
                <a:lnTo>
                  <a:pt x="1878991" y="1371547"/>
                </a:lnTo>
                <a:lnTo>
                  <a:pt x="0" y="1371547"/>
                </a:lnTo>
                <a:lnTo>
                  <a:pt x="0" y="0"/>
                </a:lnTo>
                <a:close/>
              </a:path>
            </a:pathLst>
          </a:custGeom>
          <a:blipFill>
            <a:blip r:embed="rId4"/>
            <a:stretch>
              <a:fillRect l="0" t="0" r="0" b="-11976"/>
            </a:stretch>
          </a:blipFill>
        </p:spPr>
      </p:sp>
      <p:grpSp>
        <p:nvGrpSpPr>
          <p:cNvPr name="Group 5" id="5"/>
          <p:cNvGrpSpPr/>
          <p:nvPr/>
        </p:nvGrpSpPr>
        <p:grpSpPr>
          <a:xfrm rot="0">
            <a:off x="17259300" y="9258300"/>
            <a:ext cx="525494" cy="520700"/>
            <a:chOff x="0" y="0"/>
            <a:chExt cx="700659" cy="694267"/>
          </a:xfrm>
        </p:grpSpPr>
        <p:grpSp>
          <p:nvGrpSpPr>
            <p:cNvPr name="Group 6" id="6"/>
            <p:cNvGrpSpPr/>
            <p:nvPr/>
          </p:nvGrpSpPr>
          <p:grpSpPr>
            <a:xfrm rot="0">
              <a:off x="0" y="0"/>
              <a:ext cx="700659" cy="694267"/>
              <a:chOff x="0" y="0"/>
              <a:chExt cx="138402" cy="137139"/>
            </a:xfrm>
          </p:grpSpPr>
          <p:sp>
            <p:nvSpPr>
              <p:cNvPr name="Freeform 7" id="7"/>
              <p:cNvSpPr/>
              <p:nvPr/>
            </p:nvSpPr>
            <p:spPr>
              <a:xfrm flipH="false" flipV="false" rot="0">
                <a:off x="0" y="0"/>
                <a:ext cx="138402" cy="137139"/>
              </a:xfrm>
              <a:custGeom>
                <a:avLst/>
                <a:gdLst/>
                <a:ahLst/>
                <a:cxnLst/>
                <a:rect r="r" b="b" t="t" l="l"/>
                <a:pathLst>
                  <a:path h="137139" w="138402">
                    <a:moveTo>
                      <a:pt x="0" y="0"/>
                    </a:moveTo>
                    <a:lnTo>
                      <a:pt x="138402" y="0"/>
                    </a:lnTo>
                    <a:lnTo>
                      <a:pt x="138402" y="137139"/>
                    </a:lnTo>
                    <a:lnTo>
                      <a:pt x="0" y="137139"/>
                    </a:lnTo>
                    <a:close/>
                  </a:path>
                </a:pathLst>
              </a:custGeom>
              <a:solidFill>
                <a:srgbClr val="152540"/>
              </a:solidFill>
            </p:spPr>
          </p:sp>
          <p:sp>
            <p:nvSpPr>
              <p:cNvPr name="TextBox 8" id="8"/>
              <p:cNvSpPr txBox="true"/>
              <p:nvPr/>
            </p:nvSpPr>
            <p:spPr>
              <a:xfrm>
                <a:off x="0" y="-47625"/>
                <a:ext cx="138402" cy="184764"/>
              </a:xfrm>
              <a:prstGeom prst="rect">
                <a:avLst/>
              </a:prstGeom>
            </p:spPr>
            <p:txBody>
              <a:bodyPr anchor="ctr" rtlCol="false" tIns="50800" lIns="50800" bIns="50800" rIns="50800"/>
              <a:lstStyle/>
              <a:p>
                <a:pPr algn="ctr">
                  <a:lnSpc>
                    <a:spcPts val="3374"/>
                  </a:lnSpc>
                </a:pPr>
              </a:p>
            </p:txBody>
          </p:sp>
        </p:grpSp>
        <p:sp>
          <p:nvSpPr>
            <p:cNvPr name="TextBox 9" id="9"/>
            <p:cNvSpPr txBox="true"/>
            <p:nvPr/>
          </p:nvSpPr>
          <p:spPr>
            <a:xfrm rot="0">
              <a:off x="0" y="40217"/>
              <a:ext cx="700659" cy="556683"/>
            </a:xfrm>
            <a:prstGeom prst="rect">
              <a:avLst/>
            </a:prstGeom>
          </p:spPr>
          <p:txBody>
            <a:bodyPr anchor="t" rtlCol="false" tIns="0" lIns="0" bIns="0" rIns="0">
              <a:spAutoFit/>
            </a:bodyPr>
            <a:lstStyle/>
            <a:p>
              <a:pPr algn="ctr">
                <a:lnSpc>
                  <a:spcPts val="3500"/>
                </a:lnSpc>
              </a:pPr>
              <a:r>
                <a:rPr lang="en-US" b="true" sz="2500">
                  <a:solidFill>
                    <a:srgbClr val="EDE8E4"/>
                  </a:solidFill>
                  <a:latin typeface="Glacial Indifference Bold"/>
                  <a:ea typeface="Glacial Indifference Bold"/>
                  <a:cs typeface="Glacial Indifference Bold"/>
                  <a:sym typeface="Glacial Indifference Bold"/>
                </a:rPr>
                <a:t>1</a:t>
              </a:r>
            </a:p>
          </p:txBody>
        </p:sp>
      </p:grpSp>
      <p:sp>
        <p:nvSpPr>
          <p:cNvPr name="TextBox 10" id="10"/>
          <p:cNvSpPr txBox="true"/>
          <p:nvPr/>
        </p:nvSpPr>
        <p:spPr>
          <a:xfrm rot="0">
            <a:off x="1542422" y="1393317"/>
            <a:ext cx="15203155" cy="8653392"/>
          </a:xfrm>
          <a:prstGeom prst="rect">
            <a:avLst/>
          </a:prstGeom>
        </p:spPr>
        <p:txBody>
          <a:bodyPr anchor="t" rtlCol="false" tIns="0" lIns="0" bIns="0" rIns="0">
            <a:spAutoFit/>
          </a:bodyPr>
          <a:lstStyle/>
          <a:p>
            <a:pPr algn="ctr">
              <a:lnSpc>
                <a:spcPts val="2525"/>
              </a:lnSpc>
            </a:pPr>
            <a:r>
              <a:rPr lang="en-US" sz="1829" spc="179">
                <a:solidFill>
                  <a:srgbClr val="000000"/>
                </a:solidFill>
                <a:latin typeface="Montserrat Light"/>
                <a:ea typeface="Montserrat Light"/>
                <a:cs typeface="Montserrat Light"/>
                <a:sym typeface="Montserrat Light"/>
              </a:rPr>
              <a:t> </a:t>
            </a:r>
            <a:r>
              <a:rPr lang="en-US" b="true" sz="1829" spc="179">
                <a:solidFill>
                  <a:srgbClr val="000000"/>
                </a:solidFill>
                <a:latin typeface="Montserrat Light Bold"/>
                <a:ea typeface="Montserrat Light Bold"/>
                <a:cs typeface="Montserrat Light Bold"/>
                <a:sym typeface="Montserrat Light Bold"/>
              </a:rPr>
              <a:t> Tecnológico Nacional de México</a:t>
            </a:r>
          </a:p>
          <a:p>
            <a:pPr algn="ctr">
              <a:lnSpc>
                <a:spcPts val="2525"/>
              </a:lnSpc>
            </a:pPr>
            <a:r>
              <a:rPr lang="en-US" b="true" sz="1829" spc="179">
                <a:solidFill>
                  <a:srgbClr val="000000"/>
                </a:solidFill>
                <a:latin typeface="Montserrat Light Bold"/>
                <a:ea typeface="Montserrat Light Bold"/>
                <a:cs typeface="Montserrat Light Bold"/>
                <a:sym typeface="Montserrat Light Bold"/>
              </a:rPr>
              <a:t>Instituto Tecnológico de Frontera Comalapa</a:t>
            </a:r>
          </a:p>
          <a:p>
            <a:pPr algn="ctr">
              <a:lnSpc>
                <a:spcPts val="2525"/>
              </a:lnSpc>
            </a:pPr>
          </a:p>
          <a:p>
            <a:pPr algn="ctr">
              <a:lnSpc>
                <a:spcPts val="2525"/>
              </a:lnSpc>
            </a:pPr>
            <a:r>
              <a:rPr lang="en-US" b="true" sz="1829" spc="179">
                <a:solidFill>
                  <a:srgbClr val="000000"/>
                </a:solidFill>
                <a:latin typeface="Montserrat Light Bold"/>
                <a:ea typeface="Montserrat Light Bold"/>
                <a:cs typeface="Montserrat Light Bold"/>
                <a:sym typeface="Montserrat Light Bold"/>
              </a:rPr>
              <a:t>Carrera:</a:t>
            </a:r>
          </a:p>
          <a:p>
            <a:pPr algn="ctr">
              <a:lnSpc>
                <a:spcPts val="2525"/>
              </a:lnSpc>
            </a:pPr>
            <a:r>
              <a:rPr lang="en-US" sz="1829" spc="179">
                <a:solidFill>
                  <a:srgbClr val="000000"/>
                </a:solidFill>
                <a:latin typeface="Montserrat Light"/>
                <a:ea typeface="Montserrat Light"/>
                <a:cs typeface="Montserrat Light"/>
                <a:sym typeface="Montserrat Light"/>
              </a:rPr>
              <a:t>Ingeniería en Sistemas Computacionales</a:t>
            </a:r>
          </a:p>
          <a:p>
            <a:pPr algn="ctr">
              <a:lnSpc>
                <a:spcPts val="2525"/>
              </a:lnSpc>
            </a:pPr>
          </a:p>
          <a:p>
            <a:pPr algn="ctr">
              <a:lnSpc>
                <a:spcPts val="2525"/>
              </a:lnSpc>
            </a:pPr>
            <a:r>
              <a:rPr lang="en-US" b="true" sz="1829" spc="179">
                <a:solidFill>
                  <a:srgbClr val="000000"/>
                </a:solidFill>
                <a:latin typeface="Montserrat Light Bold"/>
                <a:ea typeface="Montserrat Light Bold"/>
                <a:cs typeface="Montserrat Light Bold"/>
                <a:sym typeface="Montserrat Light Bold"/>
              </a:rPr>
              <a:t>Materia:</a:t>
            </a:r>
          </a:p>
          <a:p>
            <a:pPr algn="ctr">
              <a:lnSpc>
                <a:spcPts val="2525"/>
              </a:lnSpc>
            </a:pPr>
            <a:r>
              <a:rPr lang="en-US" sz="1829" spc="179">
                <a:solidFill>
                  <a:srgbClr val="000000"/>
                </a:solidFill>
                <a:latin typeface="Montserrat Light"/>
                <a:ea typeface="Montserrat Light"/>
                <a:cs typeface="Montserrat Light"/>
                <a:sym typeface="Montserrat Light"/>
              </a:rPr>
              <a:t>Programación Web</a:t>
            </a:r>
          </a:p>
          <a:p>
            <a:pPr algn="ctr">
              <a:lnSpc>
                <a:spcPts val="2525"/>
              </a:lnSpc>
            </a:pPr>
          </a:p>
          <a:p>
            <a:pPr algn="ctr">
              <a:lnSpc>
                <a:spcPts val="2525"/>
              </a:lnSpc>
            </a:pPr>
            <a:r>
              <a:rPr lang="en-US" b="true" sz="1829" spc="179">
                <a:solidFill>
                  <a:srgbClr val="000000"/>
                </a:solidFill>
                <a:latin typeface="Montserrat Light Bold"/>
                <a:ea typeface="Montserrat Light Bold"/>
                <a:cs typeface="Montserrat Light Bold"/>
                <a:sym typeface="Montserrat Light Bold"/>
              </a:rPr>
              <a:t>Banco de ejercicios:</a:t>
            </a:r>
          </a:p>
          <a:p>
            <a:pPr algn="ctr">
              <a:lnSpc>
                <a:spcPts val="2525"/>
              </a:lnSpc>
            </a:pPr>
            <a:r>
              <a:rPr lang="en-US" sz="1829" spc="179">
                <a:solidFill>
                  <a:srgbClr val="000000"/>
                </a:solidFill>
                <a:latin typeface="Montserrat Light"/>
                <a:ea typeface="Montserrat Light"/>
                <a:cs typeface="Montserrat Light"/>
                <a:sym typeface="Montserrat Light"/>
              </a:rPr>
              <a:t>Pruebas del carrito de compras y del checkout</a:t>
            </a:r>
          </a:p>
          <a:p>
            <a:pPr algn="ctr">
              <a:lnSpc>
                <a:spcPts val="2525"/>
              </a:lnSpc>
            </a:pPr>
          </a:p>
          <a:p>
            <a:pPr algn="ctr">
              <a:lnSpc>
                <a:spcPts val="2525"/>
              </a:lnSpc>
            </a:pPr>
            <a:r>
              <a:rPr lang="en-US" b="true" sz="1829" spc="179">
                <a:solidFill>
                  <a:srgbClr val="000000"/>
                </a:solidFill>
                <a:latin typeface="Montserrat Light Bold"/>
                <a:ea typeface="Montserrat Light Bold"/>
                <a:cs typeface="Montserrat Light Bold"/>
                <a:sym typeface="Montserrat Light Bold"/>
              </a:rPr>
              <a:t>Docente:</a:t>
            </a:r>
          </a:p>
          <a:p>
            <a:pPr algn="ctr">
              <a:lnSpc>
                <a:spcPts val="2525"/>
              </a:lnSpc>
            </a:pPr>
            <a:r>
              <a:rPr lang="en-US" sz="1829" spc="179">
                <a:solidFill>
                  <a:srgbClr val="000000"/>
                </a:solidFill>
                <a:latin typeface="Montserrat Light"/>
                <a:ea typeface="Montserrat Light"/>
                <a:cs typeface="Montserrat Light"/>
                <a:sym typeface="Montserrat Light"/>
              </a:rPr>
              <a:t>Ing. Francisco Javier Mingo Velázquez</a:t>
            </a:r>
          </a:p>
          <a:p>
            <a:pPr algn="ctr">
              <a:lnSpc>
                <a:spcPts val="2525"/>
              </a:lnSpc>
            </a:pPr>
          </a:p>
          <a:p>
            <a:pPr algn="ctr">
              <a:lnSpc>
                <a:spcPts val="2525"/>
              </a:lnSpc>
            </a:pPr>
            <a:r>
              <a:rPr lang="en-US" b="true" sz="1829" spc="179">
                <a:solidFill>
                  <a:srgbClr val="000000"/>
                </a:solidFill>
                <a:latin typeface="Montserrat Light Bold"/>
                <a:ea typeface="Montserrat Light Bold"/>
                <a:cs typeface="Montserrat Light Bold"/>
                <a:sym typeface="Montserrat Light Bold"/>
              </a:rPr>
              <a:t>Estudiante:</a:t>
            </a:r>
          </a:p>
          <a:p>
            <a:pPr algn="ctr">
              <a:lnSpc>
                <a:spcPts val="2525"/>
              </a:lnSpc>
            </a:pPr>
            <a:r>
              <a:rPr lang="en-US" sz="1829" spc="179">
                <a:solidFill>
                  <a:srgbClr val="000000"/>
                </a:solidFill>
                <a:latin typeface="Montserrat Light"/>
                <a:ea typeface="Montserrat Light"/>
                <a:cs typeface="Montserrat Light"/>
                <a:sym typeface="Montserrat Light"/>
              </a:rPr>
              <a:t>Alan Eduardo Rodríguez Silvestre</a:t>
            </a:r>
          </a:p>
          <a:p>
            <a:pPr algn="ctr">
              <a:lnSpc>
                <a:spcPts val="2525"/>
              </a:lnSpc>
            </a:pPr>
          </a:p>
          <a:p>
            <a:pPr algn="ctr">
              <a:lnSpc>
                <a:spcPts val="2525"/>
              </a:lnSpc>
            </a:pPr>
            <a:r>
              <a:rPr lang="en-US" b="true" sz="1829" spc="179">
                <a:solidFill>
                  <a:srgbClr val="000000"/>
                </a:solidFill>
                <a:latin typeface="Montserrat Light Bold"/>
                <a:ea typeface="Montserrat Light Bold"/>
                <a:cs typeface="Montserrat Light Bold"/>
                <a:sym typeface="Montserrat Light Bold"/>
              </a:rPr>
              <a:t>Número de control:</a:t>
            </a:r>
          </a:p>
          <a:p>
            <a:pPr algn="ctr">
              <a:lnSpc>
                <a:spcPts val="2525"/>
              </a:lnSpc>
            </a:pPr>
            <a:r>
              <a:rPr lang="en-US" sz="1829" spc="179">
                <a:solidFill>
                  <a:srgbClr val="000000"/>
                </a:solidFill>
                <a:latin typeface="Montserrat Light"/>
                <a:ea typeface="Montserrat Light"/>
                <a:cs typeface="Montserrat Light"/>
                <a:sym typeface="Montserrat Light"/>
              </a:rPr>
              <a:t>221260062</a:t>
            </a:r>
          </a:p>
          <a:p>
            <a:pPr algn="ctr">
              <a:lnSpc>
                <a:spcPts val="2525"/>
              </a:lnSpc>
            </a:pPr>
          </a:p>
          <a:p>
            <a:pPr algn="ctr">
              <a:lnSpc>
                <a:spcPts val="2525"/>
              </a:lnSpc>
            </a:pPr>
            <a:r>
              <a:rPr lang="en-US" b="true" sz="1829" spc="179">
                <a:solidFill>
                  <a:srgbClr val="000000"/>
                </a:solidFill>
                <a:latin typeface="Montserrat Light Bold"/>
                <a:ea typeface="Montserrat Light Bold"/>
                <a:cs typeface="Montserrat Light Bold"/>
                <a:sym typeface="Montserrat Light Bold"/>
              </a:rPr>
              <a:t>Semestre: </a:t>
            </a:r>
          </a:p>
          <a:p>
            <a:pPr algn="ctr">
              <a:lnSpc>
                <a:spcPts val="2525"/>
              </a:lnSpc>
            </a:pPr>
            <a:r>
              <a:rPr lang="en-US" sz="1829" spc="179">
                <a:solidFill>
                  <a:srgbClr val="000000"/>
                </a:solidFill>
                <a:latin typeface="Montserrat Light"/>
                <a:ea typeface="Montserrat Light"/>
                <a:cs typeface="Montserrat Light"/>
                <a:sym typeface="Montserrat Light"/>
              </a:rPr>
              <a:t>8</a:t>
            </a:r>
            <a:r>
              <a:rPr lang="en-US" sz="1829" spc="179">
                <a:solidFill>
                  <a:srgbClr val="000000"/>
                </a:solidFill>
                <a:latin typeface="Montserrat Light"/>
                <a:ea typeface="Montserrat Light"/>
                <a:cs typeface="Montserrat Light"/>
                <a:sym typeface="Montserrat Light"/>
              </a:rPr>
              <a:t>°</a:t>
            </a:r>
          </a:p>
          <a:p>
            <a:pPr algn="ctr">
              <a:lnSpc>
                <a:spcPts val="2525"/>
              </a:lnSpc>
            </a:pPr>
          </a:p>
          <a:p>
            <a:pPr algn="ctr">
              <a:lnSpc>
                <a:spcPts val="2525"/>
              </a:lnSpc>
            </a:pPr>
            <a:r>
              <a:rPr lang="en-US" b="true" sz="1829" spc="179">
                <a:solidFill>
                  <a:srgbClr val="000000"/>
                </a:solidFill>
                <a:latin typeface="Montserrat Light Bold"/>
                <a:ea typeface="Montserrat Light Bold"/>
                <a:cs typeface="Montserrat Light Bold"/>
                <a:sym typeface="Montserrat Light Bold"/>
              </a:rPr>
              <a:t>Fecha de entrega: </a:t>
            </a:r>
          </a:p>
          <a:p>
            <a:pPr algn="ctr">
              <a:lnSpc>
                <a:spcPts val="2525"/>
              </a:lnSpc>
            </a:pPr>
            <a:r>
              <a:rPr lang="en-US" sz="1829" spc="179">
                <a:solidFill>
                  <a:srgbClr val="000000"/>
                </a:solidFill>
                <a:latin typeface="Montserrat Light"/>
                <a:ea typeface="Montserrat Light"/>
                <a:cs typeface="Montserrat Light"/>
                <a:sym typeface="Montserrat Light"/>
              </a:rPr>
              <a:t>14</a:t>
            </a:r>
            <a:r>
              <a:rPr lang="en-US" sz="1829" spc="179">
                <a:solidFill>
                  <a:srgbClr val="000000"/>
                </a:solidFill>
                <a:latin typeface="Montserrat Light"/>
                <a:ea typeface="Montserrat Light"/>
                <a:cs typeface="Montserrat Light"/>
                <a:sym typeface="Montserrat Light"/>
              </a:rPr>
              <a:t> de junio del 2026</a:t>
            </a:r>
          </a:p>
          <a:p>
            <a:pPr algn="l">
              <a:lnSpc>
                <a:spcPts val="2658"/>
              </a:lnSpc>
            </a:pP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294502"/>
            <a:ext cx="16230600" cy="7863840"/>
          </a:xfrm>
          <a:prstGeom prst="rect">
            <a:avLst/>
          </a:prstGeom>
        </p:spPr>
        <p:txBody>
          <a:bodyPr anchor="t" rtlCol="false" tIns="0" lIns="0" bIns="0" rIns="0">
            <a:spAutoFit/>
          </a:bodyPr>
          <a:lstStyle/>
          <a:p>
            <a:pPr algn="just">
              <a:lnSpc>
                <a:spcPts val="4499"/>
              </a:lnSpc>
            </a:pPr>
            <a:r>
              <a:rPr lang="en-US" sz="3599">
                <a:solidFill>
                  <a:srgbClr val="000000"/>
                </a:solidFill>
                <a:latin typeface="Glacial Indifference"/>
                <a:ea typeface="Glacial Indifference"/>
                <a:cs typeface="Glacial Indifference"/>
                <a:sym typeface="Glacial Indifference"/>
              </a:rPr>
              <a:t>En la práctica anterior, llevé a cabo la implementación del carrito de compras y del checkout dentro del proyecto Local Market, con la finalidad de completar una de las partes finales de la aplicación. </a:t>
            </a:r>
          </a:p>
          <a:p>
            <a:pPr algn="just">
              <a:lnSpc>
                <a:spcPts val="4499"/>
              </a:lnSpc>
            </a:pPr>
          </a:p>
          <a:p>
            <a:pPr algn="just">
              <a:lnSpc>
                <a:spcPts val="4499"/>
              </a:lnSpc>
            </a:pPr>
            <a:r>
              <a:rPr lang="en-US" sz="3599">
                <a:solidFill>
                  <a:srgbClr val="000000"/>
                </a:solidFill>
                <a:latin typeface="Glacial Indifference"/>
                <a:ea typeface="Glacial Indifference"/>
                <a:cs typeface="Glacial Indifference"/>
                <a:sym typeface="Glacial Indifference"/>
              </a:rPr>
              <a:t>Para comprobar que estas funcionalidades se implementaron correctamente, a través de esta actividad realicé algunos ejercicios de prueba, los cuales consistieron en agregar productos al carrito, modificar cantidades y continuar con el proceso de checkout.</a:t>
            </a:r>
          </a:p>
          <a:p>
            <a:pPr algn="just">
              <a:lnSpc>
                <a:spcPts val="4499"/>
              </a:lnSpc>
            </a:pPr>
          </a:p>
          <a:p>
            <a:pPr algn="just">
              <a:lnSpc>
                <a:spcPts val="4499"/>
              </a:lnSpc>
            </a:pPr>
            <a:r>
              <a:rPr lang="en-US" sz="3599">
                <a:solidFill>
                  <a:srgbClr val="000000"/>
                </a:solidFill>
                <a:latin typeface="Glacial Indifference"/>
                <a:ea typeface="Glacial Indifference"/>
                <a:cs typeface="Glacial Indifference"/>
                <a:sym typeface="Glacial Indifference"/>
              </a:rPr>
              <a:t>Por lo cual, se presenta a continuación las capturas de pantalla de los ejercicios realizados, así como los resultados obtenidos durante la práctica. Estas evidencias permitirán demostrar el funcionamiento del carrito de compras y del checkout, los cuales representan una parte importante para mi aplicación web “Local Market”.</a:t>
            </a:r>
          </a:p>
        </p:txBody>
      </p:sp>
      <p:sp>
        <p:nvSpPr>
          <p:cNvPr name="TextBox 3" id="3"/>
          <p:cNvSpPr txBox="true"/>
          <p:nvPr/>
        </p:nvSpPr>
        <p:spPr>
          <a:xfrm rot="0">
            <a:off x="3981198" y="266699"/>
            <a:ext cx="10325604" cy="762001"/>
          </a:xfrm>
          <a:prstGeom prst="rect">
            <a:avLst/>
          </a:prstGeom>
        </p:spPr>
        <p:txBody>
          <a:bodyPr anchor="t" rtlCol="false" tIns="0" lIns="0" bIns="0" rIns="0">
            <a:spAutoFit/>
          </a:bodyPr>
          <a:lstStyle/>
          <a:p>
            <a:pPr algn="ctr">
              <a:lnSpc>
                <a:spcPts val="6299"/>
              </a:lnSpc>
            </a:pPr>
            <a:r>
              <a:rPr lang="en-US" b="true" sz="4499">
                <a:solidFill>
                  <a:srgbClr val="000000"/>
                </a:solidFill>
                <a:latin typeface="Glacial Indifference Bold"/>
                <a:ea typeface="Glacial Indifference Bold"/>
                <a:cs typeface="Glacial Indifference Bold"/>
                <a:sym typeface="Glacial Indifference Bold"/>
              </a:rPr>
              <a:t>INTRODUCCION</a:t>
            </a:r>
          </a:p>
        </p:txBody>
      </p:sp>
      <p:grpSp>
        <p:nvGrpSpPr>
          <p:cNvPr name="Group 4" id="4"/>
          <p:cNvGrpSpPr/>
          <p:nvPr/>
        </p:nvGrpSpPr>
        <p:grpSpPr>
          <a:xfrm rot="0">
            <a:off x="17259300" y="9258300"/>
            <a:ext cx="525494" cy="520700"/>
            <a:chOff x="0" y="0"/>
            <a:chExt cx="700659" cy="694267"/>
          </a:xfrm>
        </p:grpSpPr>
        <p:grpSp>
          <p:nvGrpSpPr>
            <p:cNvPr name="Group 5" id="5"/>
            <p:cNvGrpSpPr/>
            <p:nvPr/>
          </p:nvGrpSpPr>
          <p:grpSpPr>
            <a:xfrm rot="0">
              <a:off x="0" y="0"/>
              <a:ext cx="700659" cy="694267"/>
              <a:chOff x="0" y="0"/>
              <a:chExt cx="138402" cy="137139"/>
            </a:xfrm>
          </p:grpSpPr>
          <p:sp>
            <p:nvSpPr>
              <p:cNvPr name="Freeform 6" id="6"/>
              <p:cNvSpPr/>
              <p:nvPr/>
            </p:nvSpPr>
            <p:spPr>
              <a:xfrm flipH="false" flipV="false" rot="0">
                <a:off x="0" y="0"/>
                <a:ext cx="138402" cy="137139"/>
              </a:xfrm>
              <a:custGeom>
                <a:avLst/>
                <a:gdLst/>
                <a:ahLst/>
                <a:cxnLst/>
                <a:rect r="r" b="b" t="t" l="l"/>
                <a:pathLst>
                  <a:path h="137139" w="138402">
                    <a:moveTo>
                      <a:pt x="0" y="0"/>
                    </a:moveTo>
                    <a:lnTo>
                      <a:pt x="138402" y="0"/>
                    </a:lnTo>
                    <a:lnTo>
                      <a:pt x="138402" y="137139"/>
                    </a:lnTo>
                    <a:lnTo>
                      <a:pt x="0" y="137139"/>
                    </a:lnTo>
                    <a:close/>
                  </a:path>
                </a:pathLst>
              </a:custGeom>
              <a:solidFill>
                <a:srgbClr val="152540"/>
              </a:solidFill>
            </p:spPr>
          </p:sp>
          <p:sp>
            <p:nvSpPr>
              <p:cNvPr name="TextBox 7" id="7"/>
              <p:cNvSpPr txBox="true"/>
              <p:nvPr/>
            </p:nvSpPr>
            <p:spPr>
              <a:xfrm>
                <a:off x="0" y="-47625"/>
                <a:ext cx="138402" cy="184764"/>
              </a:xfrm>
              <a:prstGeom prst="rect">
                <a:avLst/>
              </a:prstGeom>
            </p:spPr>
            <p:txBody>
              <a:bodyPr anchor="ctr" rtlCol="false" tIns="50800" lIns="50800" bIns="50800" rIns="50800"/>
              <a:lstStyle/>
              <a:p>
                <a:pPr algn="ctr">
                  <a:lnSpc>
                    <a:spcPts val="3374"/>
                  </a:lnSpc>
                </a:pPr>
              </a:p>
            </p:txBody>
          </p:sp>
        </p:grpSp>
        <p:sp>
          <p:nvSpPr>
            <p:cNvPr name="TextBox 8" id="8"/>
            <p:cNvSpPr txBox="true"/>
            <p:nvPr/>
          </p:nvSpPr>
          <p:spPr>
            <a:xfrm rot="0">
              <a:off x="0" y="40217"/>
              <a:ext cx="700659" cy="556683"/>
            </a:xfrm>
            <a:prstGeom prst="rect">
              <a:avLst/>
            </a:prstGeom>
          </p:spPr>
          <p:txBody>
            <a:bodyPr anchor="t" rtlCol="false" tIns="0" lIns="0" bIns="0" rIns="0">
              <a:spAutoFit/>
            </a:bodyPr>
            <a:lstStyle/>
            <a:p>
              <a:pPr algn="ctr">
                <a:lnSpc>
                  <a:spcPts val="3500"/>
                </a:lnSpc>
              </a:pPr>
              <a:r>
                <a:rPr lang="en-US" b="true" sz="2500">
                  <a:solidFill>
                    <a:srgbClr val="EDE8E4"/>
                  </a:solidFill>
                  <a:latin typeface="Glacial Indifference Bold"/>
                  <a:ea typeface="Glacial Indifference Bold"/>
                  <a:cs typeface="Glacial Indifference Bold"/>
                  <a:sym typeface="Glacial Indifference Bold"/>
                </a:rPr>
                <a:t>2</a:t>
              </a:r>
            </a:p>
          </p:txBody>
        </p:sp>
      </p:gr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305877"/>
            <a:ext cx="16230600" cy="3368040"/>
          </a:xfrm>
          <a:prstGeom prst="rect">
            <a:avLst/>
          </a:prstGeom>
        </p:spPr>
        <p:txBody>
          <a:bodyPr anchor="t" rtlCol="false" tIns="0" lIns="0" bIns="0" rIns="0">
            <a:spAutoFit/>
          </a:bodyPr>
          <a:lstStyle/>
          <a:p>
            <a:pPr algn="just">
              <a:lnSpc>
                <a:spcPts val="4499"/>
              </a:lnSpc>
            </a:pPr>
            <a:r>
              <a:rPr lang="en-US" sz="3599">
                <a:solidFill>
                  <a:srgbClr val="000000"/>
                </a:solidFill>
                <a:latin typeface="Glacial Indifference"/>
                <a:ea typeface="Glacial Indifference"/>
                <a:cs typeface="Glacial Indifference"/>
                <a:sym typeface="Glacial Indifference"/>
              </a:rPr>
              <a:t>Considero que esta actividad es de gran importancia, ya que a través de los ejercicios realizados podre comprobar si el carrito de compras y el checkout funcionan correctamente dentro de mi aplicación web “Local Market”. </a:t>
            </a:r>
          </a:p>
          <a:p>
            <a:pPr algn="just">
              <a:lnSpc>
                <a:spcPts val="4499"/>
              </a:lnSpc>
            </a:pPr>
          </a:p>
          <a:p>
            <a:pPr algn="just">
              <a:lnSpc>
                <a:spcPts val="4499"/>
              </a:lnSpc>
            </a:pPr>
            <a:r>
              <a:rPr lang="en-US" sz="3599">
                <a:solidFill>
                  <a:srgbClr val="000000"/>
                </a:solidFill>
                <a:latin typeface="Glacial Indifference"/>
                <a:ea typeface="Glacial Indifference"/>
                <a:cs typeface="Glacial Indifference"/>
                <a:sym typeface="Glacial Indifference"/>
              </a:rPr>
              <a:t>Estas pruebas permitirán comprobar  que el usuario pueda agregar productos, cambiar cantidades, realizar el proceso de pago y revisar su compra.</a:t>
            </a:r>
          </a:p>
        </p:txBody>
      </p:sp>
      <p:sp>
        <p:nvSpPr>
          <p:cNvPr name="TextBox 3" id="3"/>
          <p:cNvSpPr txBox="true"/>
          <p:nvPr/>
        </p:nvSpPr>
        <p:spPr>
          <a:xfrm rot="0">
            <a:off x="3981198" y="266699"/>
            <a:ext cx="10325604" cy="762001"/>
          </a:xfrm>
          <a:prstGeom prst="rect">
            <a:avLst/>
          </a:prstGeom>
        </p:spPr>
        <p:txBody>
          <a:bodyPr anchor="t" rtlCol="false" tIns="0" lIns="0" bIns="0" rIns="0">
            <a:spAutoFit/>
          </a:bodyPr>
          <a:lstStyle/>
          <a:p>
            <a:pPr algn="ctr">
              <a:lnSpc>
                <a:spcPts val="6299"/>
              </a:lnSpc>
            </a:pPr>
            <a:r>
              <a:rPr lang="en-US" b="true" sz="4499">
                <a:solidFill>
                  <a:srgbClr val="000000"/>
                </a:solidFill>
                <a:latin typeface="Glacial Indifference Bold"/>
                <a:ea typeface="Glacial Indifference Bold"/>
                <a:cs typeface="Glacial Indifference Bold"/>
                <a:sym typeface="Glacial Indifference Bold"/>
              </a:rPr>
              <a:t>JUSTIFICACION</a:t>
            </a:r>
          </a:p>
        </p:txBody>
      </p:sp>
      <p:grpSp>
        <p:nvGrpSpPr>
          <p:cNvPr name="Group 4" id="4"/>
          <p:cNvGrpSpPr/>
          <p:nvPr/>
        </p:nvGrpSpPr>
        <p:grpSpPr>
          <a:xfrm rot="0">
            <a:off x="17259300" y="9258300"/>
            <a:ext cx="525494" cy="520700"/>
            <a:chOff x="0" y="0"/>
            <a:chExt cx="700659" cy="694267"/>
          </a:xfrm>
        </p:grpSpPr>
        <p:grpSp>
          <p:nvGrpSpPr>
            <p:cNvPr name="Group 5" id="5"/>
            <p:cNvGrpSpPr/>
            <p:nvPr/>
          </p:nvGrpSpPr>
          <p:grpSpPr>
            <a:xfrm rot="0">
              <a:off x="0" y="0"/>
              <a:ext cx="700659" cy="694267"/>
              <a:chOff x="0" y="0"/>
              <a:chExt cx="138402" cy="137139"/>
            </a:xfrm>
          </p:grpSpPr>
          <p:sp>
            <p:nvSpPr>
              <p:cNvPr name="Freeform 6" id="6"/>
              <p:cNvSpPr/>
              <p:nvPr/>
            </p:nvSpPr>
            <p:spPr>
              <a:xfrm flipH="false" flipV="false" rot="0">
                <a:off x="0" y="0"/>
                <a:ext cx="138402" cy="137139"/>
              </a:xfrm>
              <a:custGeom>
                <a:avLst/>
                <a:gdLst/>
                <a:ahLst/>
                <a:cxnLst/>
                <a:rect r="r" b="b" t="t" l="l"/>
                <a:pathLst>
                  <a:path h="137139" w="138402">
                    <a:moveTo>
                      <a:pt x="0" y="0"/>
                    </a:moveTo>
                    <a:lnTo>
                      <a:pt x="138402" y="0"/>
                    </a:lnTo>
                    <a:lnTo>
                      <a:pt x="138402" y="137139"/>
                    </a:lnTo>
                    <a:lnTo>
                      <a:pt x="0" y="137139"/>
                    </a:lnTo>
                    <a:close/>
                  </a:path>
                </a:pathLst>
              </a:custGeom>
              <a:solidFill>
                <a:srgbClr val="152540"/>
              </a:solidFill>
            </p:spPr>
          </p:sp>
          <p:sp>
            <p:nvSpPr>
              <p:cNvPr name="TextBox 7" id="7"/>
              <p:cNvSpPr txBox="true"/>
              <p:nvPr/>
            </p:nvSpPr>
            <p:spPr>
              <a:xfrm>
                <a:off x="0" y="-47625"/>
                <a:ext cx="138402" cy="184764"/>
              </a:xfrm>
              <a:prstGeom prst="rect">
                <a:avLst/>
              </a:prstGeom>
            </p:spPr>
            <p:txBody>
              <a:bodyPr anchor="ctr" rtlCol="false" tIns="50800" lIns="50800" bIns="50800" rIns="50800"/>
              <a:lstStyle/>
              <a:p>
                <a:pPr algn="ctr">
                  <a:lnSpc>
                    <a:spcPts val="3374"/>
                  </a:lnSpc>
                </a:pPr>
              </a:p>
            </p:txBody>
          </p:sp>
        </p:grpSp>
        <p:sp>
          <p:nvSpPr>
            <p:cNvPr name="TextBox 8" id="8"/>
            <p:cNvSpPr txBox="true"/>
            <p:nvPr/>
          </p:nvSpPr>
          <p:spPr>
            <a:xfrm rot="0">
              <a:off x="0" y="40217"/>
              <a:ext cx="700659" cy="556683"/>
            </a:xfrm>
            <a:prstGeom prst="rect">
              <a:avLst/>
            </a:prstGeom>
          </p:spPr>
          <p:txBody>
            <a:bodyPr anchor="t" rtlCol="false" tIns="0" lIns="0" bIns="0" rIns="0">
              <a:spAutoFit/>
            </a:bodyPr>
            <a:lstStyle/>
            <a:p>
              <a:pPr algn="ctr">
                <a:lnSpc>
                  <a:spcPts val="3500"/>
                </a:lnSpc>
              </a:pPr>
              <a:r>
                <a:rPr lang="en-US" b="true" sz="2500">
                  <a:solidFill>
                    <a:srgbClr val="EDE8E4"/>
                  </a:solidFill>
                  <a:latin typeface="Glacial Indifference Bold"/>
                  <a:ea typeface="Glacial Indifference Bold"/>
                  <a:cs typeface="Glacial Indifference Bold"/>
                  <a:sym typeface="Glacial Indifference Bold"/>
                </a:rPr>
                <a:t>3</a:t>
              </a:r>
            </a:p>
          </p:txBody>
        </p:sp>
      </p:gr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7259300" y="9258300"/>
            <a:ext cx="525494" cy="520700"/>
            <a:chOff x="0" y="0"/>
            <a:chExt cx="700659" cy="694267"/>
          </a:xfrm>
        </p:grpSpPr>
        <p:grpSp>
          <p:nvGrpSpPr>
            <p:cNvPr name="Group 3" id="3"/>
            <p:cNvGrpSpPr/>
            <p:nvPr/>
          </p:nvGrpSpPr>
          <p:grpSpPr>
            <a:xfrm rot="0">
              <a:off x="0" y="0"/>
              <a:ext cx="700659" cy="694267"/>
              <a:chOff x="0" y="0"/>
              <a:chExt cx="138402" cy="137139"/>
            </a:xfrm>
          </p:grpSpPr>
          <p:sp>
            <p:nvSpPr>
              <p:cNvPr name="Freeform 4" id="4"/>
              <p:cNvSpPr/>
              <p:nvPr/>
            </p:nvSpPr>
            <p:spPr>
              <a:xfrm flipH="false" flipV="false" rot="0">
                <a:off x="0" y="0"/>
                <a:ext cx="138402" cy="137139"/>
              </a:xfrm>
              <a:custGeom>
                <a:avLst/>
                <a:gdLst/>
                <a:ahLst/>
                <a:cxnLst/>
                <a:rect r="r" b="b" t="t" l="l"/>
                <a:pathLst>
                  <a:path h="137139" w="138402">
                    <a:moveTo>
                      <a:pt x="0" y="0"/>
                    </a:moveTo>
                    <a:lnTo>
                      <a:pt x="138402" y="0"/>
                    </a:lnTo>
                    <a:lnTo>
                      <a:pt x="138402" y="137139"/>
                    </a:lnTo>
                    <a:lnTo>
                      <a:pt x="0" y="137139"/>
                    </a:lnTo>
                    <a:close/>
                  </a:path>
                </a:pathLst>
              </a:custGeom>
              <a:solidFill>
                <a:srgbClr val="152540"/>
              </a:solidFill>
            </p:spPr>
          </p:sp>
          <p:sp>
            <p:nvSpPr>
              <p:cNvPr name="TextBox 5" id="5"/>
              <p:cNvSpPr txBox="true"/>
              <p:nvPr/>
            </p:nvSpPr>
            <p:spPr>
              <a:xfrm>
                <a:off x="0" y="-47625"/>
                <a:ext cx="138402" cy="184764"/>
              </a:xfrm>
              <a:prstGeom prst="rect">
                <a:avLst/>
              </a:prstGeom>
            </p:spPr>
            <p:txBody>
              <a:bodyPr anchor="ctr" rtlCol="false" tIns="50800" lIns="50800" bIns="50800" rIns="50800"/>
              <a:lstStyle/>
              <a:p>
                <a:pPr algn="ctr">
                  <a:lnSpc>
                    <a:spcPts val="3374"/>
                  </a:lnSpc>
                </a:pPr>
              </a:p>
            </p:txBody>
          </p:sp>
        </p:grpSp>
        <p:sp>
          <p:nvSpPr>
            <p:cNvPr name="TextBox 6" id="6"/>
            <p:cNvSpPr txBox="true"/>
            <p:nvPr/>
          </p:nvSpPr>
          <p:spPr>
            <a:xfrm rot="0">
              <a:off x="0" y="40217"/>
              <a:ext cx="700659" cy="556683"/>
            </a:xfrm>
            <a:prstGeom prst="rect">
              <a:avLst/>
            </a:prstGeom>
          </p:spPr>
          <p:txBody>
            <a:bodyPr anchor="t" rtlCol="false" tIns="0" lIns="0" bIns="0" rIns="0">
              <a:spAutoFit/>
            </a:bodyPr>
            <a:lstStyle/>
            <a:p>
              <a:pPr algn="ctr">
                <a:lnSpc>
                  <a:spcPts val="3500"/>
                </a:lnSpc>
              </a:pPr>
              <a:r>
                <a:rPr lang="en-US" b="true" sz="2500">
                  <a:solidFill>
                    <a:srgbClr val="EDE8E4"/>
                  </a:solidFill>
                  <a:latin typeface="Glacial Indifference Bold"/>
                  <a:ea typeface="Glacial Indifference Bold"/>
                  <a:cs typeface="Glacial Indifference Bold"/>
                  <a:sym typeface="Glacial Indifference Bold"/>
                </a:rPr>
                <a:t>4</a:t>
              </a:r>
            </a:p>
          </p:txBody>
        </p:sp>
      </p:grpSp>
      <p:sp>
        <p:nvSpPr>
          <p:cNvPr name="TextBox 7" id="7"/>
          <p:cNvSpPr txBox="true"/>
          <p:nvPr/>
        </p:nvSpPr>
        <p:spPr>
          <a:xfrm rot="0">
            <a:off x="1747169" y="3584574"/>
            <a:ext cx="14793661" cy="2955928"/>
          </a:xfrm>
          <a:prstGeom prst="rect">
            <a:avLst/>
          </a:prstGeom>
        </p:spPr>
        <p:txBody>
          <a:bodyPr anchor="t" rtlCol="false" tIns="0" lIns="0" bIns="0" rIns="0">
            <a:spAutoFit/>
          </a:bodyPr>
          <a:lstStyle/>
          <a:p>
            <a:pPr algn="ctr">
              <a:lnSpc>
                <a:spcPts val="11899"/>
              </a:lnSpc>
            </a:pPr>
            <a:r>
              <a:rPr lang="en-US" b="true" sz="8499">
                <a:solidFill>
                  <a:srgbClr val="000000"/>
                </a:solidFill>
                <a:latin typeface="Glacial Indifference Bold"/>
                <a:ea typeface="Glacial Indifference Bold"/>
                <a:cs typeface="Glacial Indifference Bold"/>
                <a:sym typeface="Glacial Indifference Bold"/>
              </a:rPr>
              <a:t>PRUEBAS DEL CARRITO DE COMPRAS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59300" y="9258300"/>
            <a:ext cx="525494" cy="520700"/>
            <a:chOff x="0" y="0"/>
            <a:chExt cx="700659" cy="694267"/>
          </a:xfrm>
        </p:grpSpPr>
        <p:grpSp>
          <p:nvGrpSpPr>
            <p:cNvPr name="Group 3" id="3"/>
            <p:cNvGrpSpPr/>
            <p:nvPr/>
          </p:nvGrpSpPr>
          <p:grpSpPr>
            <a:xfrm rot="0">
              <a:off x="0" y="0"/>
              <a:ext cx="700659" cy="694267"/>
              <a:chOff x="0" y="0"/>
              <a:chExt cx="138402" cy="137139"/>
            </a:xfrm>
          </p:grpSpPr>
          <p:sp>
            <p:nvSpPr>
              <p:cNvPr name="Freeform 4" id="4"/>
              <p:cNvSpPr/>
              <p:nvPr/>
            </p:nvSpPr>
            <p:spPr>
              <a:xfrm flipH="false" flipV="false" rot="0">
                <a:off x="0" y="0"/>
                <a:ext cx="138402" cy="137139"/>
              </a:xfrm>
              <a:custGeom>
                <a:avLst/>
                <a:gdLst/>
                <a:ahLst/>
                <a:cxnLst/>
                <a:rect r="r" b="b" t="t" l="l"/>
                <a:pathLst>
                  <a:path h="137139" w="138402">
                    <a:moveTo>
                      <a:pt x="0" y="0"/>
                    </a:moveTo>
                    <a:lnTo>
                      <a:pt x="138402" y="0"/>
                    </a:lnTo>
                    <a:lnTo>
                      <a:pt x="138402" y="137139"/>
                    </a:lnTo>
                    <a:lnTo>
                      <a:pt x="0" y="137139"/>
                    </a:lnTo>
                    <a:close/>
                  </a:path>
                </a:pathLst>
              </a:custGeom>
              <a:solidFill>
                <a:srgbClr val="152540"/>
              </a:solidFill>
            </p:spPr>
          </p:sp>
          <p:sp>
            <p:nvSpPr>
              <p:cNvPr name="TextBox 5" id="5"/>
              <p:cNvSpPr txBox="true"/>
              <p:nvPr/>
            </p:nvSpPr>
            <p:spPr>
              <a:xfrm>
                <a:off x="0" y="-47625"/>
                <a:ext cx="138402" cy="184764"/>
              </a:xfrm>
              <a:prstGeom prst="rect">
                <a:avLst/>
              </a:prstGeom>
            </p:spPr>
            <p:txBody>
              <a:bodyPr anchor="ctr" rtlCol="false" tIns="50800" lIns="50800" bIns="50800" rIns="50800"/>
              <a:lstStyle/>
              <a:p>
                <a:pPr algn="ctr">
                  <a:lnSpc>
                    <a:spcPts val="3374"/>
                  </a:lnSpc>
                </a:pPr>
              </a:p>
            </p:txBody>
          </p:sp>
        </p:grpSp>
        <p:sp>
          <p:nvSpPr>
            <p:cNvPr name="TextBox 6" id="6"/>
            <p:cNvSpPr txBox="true"/>
            <p:nvPr/>
          </p:nvSpPr>
          <p:spPr>
            <a:xfrm rot="0">
              <a:off x="0" y="40217"/>
              <a:ext cx="700659" cy="556683"/>
            </a:xfrm>
            <a:prstGeom prst="rect">
              <a:avLst/>
            </a:prstGeom>
          </p:spPr>
          <p:txBody>
            <a:bodyPr anchor="t" rtlCol="false" tIns="0" lIns="0" bIns="0" rIns="0">
              <a:spAutoFit/>
            </a:bodyPr>
            <a:lstStyle/>
            <a:p>
              <a:pPr algn="ctr">
                <a:lnSpc>
                  <a:spcPts val="3500"/>
                </a:lnSpc>
              </a:pPr>
              <a:r>
                <a:rPr lang="en-US" b="true" sz="2500">
                  <a:solidFill>
                    <a:srgbClr val="EDE8E4"/>
                  </a:solidFill>
                  <a:latin typeface="Glacial Indifference Bold"/>
                  <a:ea typeface="Glacial Indifference Bold"/>
                  <a:cs typeface="Glacial Indifference Bold"/>
                  <a:sym typeface="Glacial Indifference Bold"/>
                </a:rPr>
                <a:t>5</a:t>
              </a:r>
            </a:p>
          </p:txBody>
        </p:sp>
      </p:grpSp>
      <p:sp>
        <p:nvSpPr>
          <p:cNvPr name="Freeform 7" id="7"/>
          <p:cNvSpPr/>
          <p:nvPr/>
        </p:nvSpPr>
        <p:spPr>
          <a:xfrm flipH="false" flipV="false" rot="0">
            <a:off x="2691208" y="2519609"/>
            <a:ext cx="12905584" cy="7259391"/>
          </a:xfrm>
          <a:custGeom>
            <a:avLst/>
            <a:gdLst/>
            <a:ahLst/>
            <a:cxnLst/>
            <a:rect r="r" b="b" t="t" l="l"/>
            <a:pathLst>
              <a:path h="7259391" w="12905584">
                <a:moveTo>
                  <a:pt x="0" y="0"/>
                </a:moveTo>
                <a:lnTo>
                  <a:pt x="12905584" y="0"/>
                </a:lnTo>
                <a:lnTo>
                  <a:pt x="12905584" y="7259391"/>
                </a:lnTo>
                <a:lnTo>
                  <a:pt x="0" y="7259391"/>
                </a:lnTo>
                <a:lnTo>
                  <a:pt x="0" y="0"/>
                </a:lnTo>
                <a:close/>
              </a:path>
            </a:pathLst>
          </a:custGeom>
          <a:blipFill>
            <a:blip r:embed="rId2"/>
            <a:stretch>
              <a:fillRect l="0" t="0" r="0" b="0"/>
            </a:stretch>
          </a:blipFill>
        </p:spPr>
      </p:sp>
      <p:sp>
        <p:nvSpPr>
          <p:cNvPr name="TextBox 8" id="8"/>
          <p:cNvSpPr txBox="true"/>
          <p:nvPr/>
        </p:nvSpPr>
        <p:spPr>
          <a:xfrm rot="0">
            <a:off x="1028700" y="1178829"/>
            <a:ext cx="16230600" cy="877570"/>
          </a:xfrm>
          <a:prstGeom prst="rect">
            <a:avLst/>
          </a:prstGeom>
        </p:spPr>
        <p:txBody>
          <a:bodyPr anchor="t" rtlCol="false" tIns="0" lIns="0" bIns="0" rIns="0">
            <a:spAutoFit/>
          </a:bodyPr>
          <a:lstStyle/>
          <a:p>
            <a:pPr algn="just">
              <a:lnSpc>
                <a:spcPts val="3500"/>
              </a:lnSpc>
            </a:pPr>
            <a:r>
              <a:rPr lang="en-US" sz="2800">
                <a:solidFill>
                  <a:srgbClr val="000000"/>
                </a:solidFill>
                <a:latin typeface="Glacial Indifference"/>
                <a:ea typeface="Glacial Indifference"/>
                <a:cs typeface="Glacial Indifference"/>
                <a:sym typeface="Glacial Indifference"/>
              </a:rPr>
              <a:t>Para comprobar el funcionamiento del carrito de compras comence agregando un producto al carrito, para ello en el catalogo de productos presione </a:t>
            </a:r>
            <a:r>
              <a:rPr lang="en-US" b="true" sz="2800">
                <a:solidFill>
                  <a:srgbClr val="000000"/>
                </a:solidFill>
                <a:latin typeface="Glacial Indifference Bold"/>
                <a:ea typeface="Glacial Indifference Bold"/>
                <a:cs typeface="Glacial Indifference Bold"/>
                <a:sym typeface="Glacial Indifference Bold"/>
              </a:rPr>
              <a:t>“Agregar al carrito”</a:t>
            </a:r>
            <a:r>
              <a:rPr lang="en-US" sz="2800">
                <a:solidFill>
                  <a:srgbClr val="000000"/>
                </a:solidFill>
                <a:latin typeface="Glacial Indifference"/>
                <a:ea typeface="Glacial Indifference"/>
                <a:cs typeface="Glacial Indifference"/>
                <a:sym typeface="Glacial Indifference"/>
              </a:rPr>
              <a:t> en el</a:t>
            </a:r>
            <a:r>
              <a:rPr lang="en-US" b="true" sz="2800">
                <a:solidFill>
                  <a:srgbClr val="000000"/>
                </a:solidFill>
                <a:latin typeface="Glacial Indifference Bold"/>
                <a:ea typeface="Glacial Indifference Bold"/>
                <a:cs typeface="Glacial Indifference Bold"/>
                <a:sym typeface="Glacial Indifference Bold"/>
              </a:rPr>
              <a:t> “Juego de sillones”</a:t>
            </a:r>
            <a:r>
              <a:rPr lang="en-US" sz="2800">
                <a:solidFill>
                  <a:srgbClr val="000000"/>
                </a:solidFill>
                <a:latin typeface="Glacial Indifference"/>
                <a:ea typeface="Glacial Indifference"/>
                <a:cs typeface="Glacial Indifference"/>
                <a:sym typeface="Glacial Indifference"/>
              </a:rPr>
              <a:t>.</a:t>
            </a:r>
          </a:p>
        </p:txBody>
      </p:sp>
      <p:sp>
        <p:nvSpPr>
          <p:cNvPr name="TextBox 9" id="9"/>
          <p:cNvSpPr txBox="true"/>
          <p:nvPr/>
        </p:nvSpPr>
        <p:spPr>
          <a:xfrm rot="0">
            <a:off x="3013329" y="266699"/>
            <a:ext cx="12261342" cy="762001"/>
          </a:xfrm>
          <a:prstGeom prst="rect">
            <a:avLst/>
          </a:prstGeom>
        </p:spPr>
        <p:txBody>
          <a:bodyPr anchor="t" rtlCol="false" tIns="0" lIns="0" bIns="0" rIns="0">
            <a:spAutoFit/>
          </a:bodyPr>
          <a:lstStyle/>
          <a:p>
            <a:pPr algn="ctr">
              <a:lnSpc>
                <a:spcPts val="6299"/>
              </a:lnSpc>
            </a:pPr>
            <a:r>
              <a:rPr lang="en-US" b="true" sz="4499">
                <a:solidFill>
                  <a:srgbClr val="000000"/>
                </a:solidFill>
                <a:latin typeface="Glacial Indifference Bold"/>
                <a:ea typeface="Glacial Indifference Bold"/>
                <a:cs typeface="Glacial Indifference Bold"/>
                <a:sym typeface="Glacial Indifference Bold"/>
              </a:rPr>
              <a:t>PRUEBAS DEL CARRITO DE COMPRAS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59300" y="9258300"/>
            <a:ext cx="525494" cy="520700"/>
            <a:chOff x="0" y="0"/>
            <a:chExt cx="700659" cy="694267"/>
          </a:xfrm>
        </p:grpSpPr>
        <p:grpSp>
          <p:nvGrpSpPr>
            <p:cNvPr name="Group 3" id="3"/>
            <p:cNvGrpSpPr/>
            <p:nvPr/>
          </p:nvGrpSpPr>
          <p:grpSpPr>
            <a:xfrm rot="0">
              <a:off x="0" y="0"/>
              <a:ext cx="700659" cy="694267"/>
              <a:chOff x="0" y="0"/>
              <a:chExt cx="138402" cy="137139"/>
            </a:xfrm>
          </p:grpSpPr>
          <p:sp>
            <p:nvSpPr>
              <p:cNvPr name="Freeform 4" id="4"/>
              <p:cNvSpPr/>
              <p:nvPr/>
            </p:nvSpPr>
            <p:spPr>
              <a:xfrm flipH="false" flipV="false" rot="0">
                <a:off x="0" y="0"/>
                <a:ext cx="138402" cy="137139"/>
              </a:xfrm>
              <a:custGeom>
                <a:avLst/>
                <a:gdLst/>
                <a:ahLst/>
                <a:cxnLst/>
                <a:rect r="r" b="b" t="t" l="l"/>
                <a:pathLst>
                  <a:path h="137139" w="138402">
                    <a:moveTo>
                      <a:pt x="0" y="0"/>
                    </a:moveTo>
                    <a:lnTo>
                      <a:pt x="138402" y="0"/>
                    </a:lnTo>
                    <a:lnTo>
                      <a:pt x="138402" y="137139"/>
                    </a:lnTo>
                    <a:lnTo>
                      <a:pt x="0" y="137139"/>
                    </a:lnTo>
                    <a:close/>
                  </a:path>
                </a:pathLst>
              </a:custGeom>
              <a:solidFill>
                <a:srgbClr val="152540"/>
              </a:solidFill>
            </p:spPr>
          </p:sp>
          <p:sp>
            <p:nvSpPr>
              <p:cNvPr name="TextBox 5" id="5"/>
              <p:cNvSpPr txBox="true"/>
              <p:nvPr/>
            </p:nvSpPr>
            <p:spPr>
              <a:xfrm>
                <a:off x="0" y="-47625"/>
                <a:ext cx="138402" cy="184764"/>
              </a:xfrm>
              <a:prstGeom prst="rect">
                <a:avLst/>
              </a:prstGeom>
            </p:spPr>
            <p:txBody>
              <a:bodyPr anchor="ctr" rtlCol="false" tIns="50800" lIns="50800" bIns="50800" rIns="50800"/>
              <a:lstStyle/>
              <a:p>
                <a:pPr algn="ctr">
                  <a:lnSpc>
                    <a:spcPts val="3374"/>
                  </a:lnSpc>
                </a:pPr>
              </a:p>
            </p:txBody>
          </p:sp>
        </p:grpSp>
        <p:sp>
          <p:nvSpPr>
            <p:cNvPr name="TextBox 6" id="6"/>
            <p:cNvSpPr txBox="true"/>
            <p:nvPr/>
          </p:nvSpPr>
          <p:spPr>
            <a:xfrm rot="0">
              <a:off x="0" y="40217"/>
              <a:ext cx="700659" cy="556683"/>
            </a:xfrm>
            <a:prstGeom prst="rect">
              <a:avLst/>
            </a:prstGeom>
          </p:spPr>
          <p:txBody>
            <a:bodyPr anchor="t" rtlCol="false" tIns="0" lIns="0" bIns="0" rIns="0">
              <a:spAutoFit/>
            </a:bodyPr>
            <a:lstStyle/>
            <a:p>
              <a:pPr algn="ctr">
                <a:lnSpc>
                  <a:spcPts val="3500"/>
                </a:lnSpc>
              </a:pPr>
              <a:r>
                <a:rPr lang="en-US" b="true" sz="2500">
                  <a:solidFill>
                    <a:srgbClr val="EDE8E4"/>
                  </a:solidFill>
                  <a:latin typeface="Glacial Indifference Bold"/>
                  <a:ea typeface="Glacial Indifference Bold"/>
                  <a:cs typeface="Glacial Indifference Bold"/>
                  <a:sym typeface="Glacial Indifference Bold"/>
                </a:rPr>
                <a:t>6</a:t>
              </a:r>
            </a:p>
          </p:txBody>
        </p:sp>
      </p:grpSp>
      <p:sp>
        <p:nvSpPr>
          <p:cNvPr name="Freeform 7" id="7"/>
          <p:cNvSpPr/>
          <p:nvPr/>
        </p:nvSpPr>
        <p:spPr>
          <a:xfrm flipH="false" flipV="false" rot="0">
            <a:off x="1977667" y="3680868"/>
            <a:ext cx="7878362" cy="4211672"/>
          </a:xfrm>
          <a:custGeom>
            <a:avLst/>
            <a:gdLst/>
            <a:ahLst/>
            <a:cxnLst/>
            <a:rect r="r" b="b" t="t" l="l"/>
            <a:pathLst>
              <a:path h="4211672" w="7878362">
                <a:moveTo>
                  <a:pt x="0" y="0"/>
                </a:moveTo>
                <a:lnTo>
                  <a:pt x="7878362" y="0"/>
                </a:lnTo>
                <a:lnTo>
                  <a:pt x="7878362" y="4211672"/>
                </a:lnTo>
                <a:lnTo>
                  <a:pt x="0" y="4211672"/>
                </a:lnTo>
                <a:lnTo>
                  <a:pt x="0" y="0"/>
                </a:lnTo>
                <a:close/>
              </a:path>
            </a:pathLst>
          </a:custGeom>
          <a:blipFill>
            <a:blip r:embed="rId2"/>
            <a:stretch>
              <a:fillRect l="0" t="-22417" r="-6374" b="0"/>
            </a:stretch>
          </a:blipFill>
        </p:spPr>
      </p:sp>
      <p:sp>
        <p:nvSpPr>
          <p:cNvPr name="Freeform 8" id="8"/>
          <p:cNvSpPr/>
          <p:nvPr/>
        </p:nvSpPr>
        <p:spPr>
          <a:xfrm flipH="false" flipV="false" rot="0">
            <a:off x="10756900" y="3680868"/>
            <a:ext cx="5553433" cy="4211672"/>
          </a:xfrm>
          <a:custGeom>
            <a:avLst/>
            <a:gdLst/>
            <a:ahLst/>
            <a:cxnLst/>
            <a:rect r="r" b="b" t="t" l="l"/>
            <a:pathLst>
              <a:path h="4211672" w="5553433">
                <a:moveTo>
                  <a:pt x="0" y="0"/>
                </a:moveTo>
                <a:lnTo>
                  <a:pt x="5553433" y="0"/>
                </a:lnTo>
                <a:lnTo>
                  <a:pt x="5553433" y="4211672"/>
                </a:lnTo>
                <a:lnTo>
                  <a:pt x="0" y="4211672"/>
                </a:lnTo>
                <a:lnTo>
                  <a:pt x="0" y="0"/>
                </a:lnTo>
                <a:close/>
              </a:path>
            </a:pathLst>
          </a:custGeom>
          <a:blipFill>
            <a:blip r:embed="rId3"/>
            <a:stretch>
              <a:fillRect l="0" t="-24463" r="-10413" b="0"/>
            </a:stretch>
          </a:blipFill>
        </p:spPr>
      </p:sp>
      <p:sp>
        <p:nvSpPr>
          <p:cNvPr name="TextBox 9" id="9"/>
          <p:cNvSpPr txBox="true"/>
          <p:nvPr/>
        </p:nvSpPr>
        <p:spPr>
          <a:xfrm rot="0">
            <a:off x="1028700" y="589280"/>
            <a:ext cx="16230600" cy="877570"/>
          </a:xfrm>
          <a:prstGeom prst="rect">
            <a:avLst/>
          </a:prstGeom>
        </p:spPr>
        <p:txBody>
          <a:bodyPr anchor="t" rtlCol="false" tIns="0" lIns="0" bIns="0" rIns="0">
            <a:spAutoFit/>
          </a:bodyPr>
          <a:lstStyle/>
          <a:p>
            <a:pPr algn="just">
              <a:lnSpc>
                <a:spcPts val="3500"/>
              </a:lnSpc>
            </a:pPr>
            <a:r>
              <a:rPr lang="en-US" sz="2800">
                <a:solidFill>
                  <a:srgbClr val="000000"/>
                </a:solidFill>
                <a:latin typeface="Glacial Indifference"/>
                <a:ea typeface="Glacial Indifference"/>
                <a:cs typeface="Glacial Indifference"/>
                <a:sym typeface="Glacial Indifference"/>
              </a:rPr>
              <a:t>Hecho lo anterior, la aplicación me notificó que el producto se agregó correctamente, al mismo tiempo en el icono del carrito me parecio la cantidad de productos agregados.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59300" y="9258300"/>
            <a:ext cx="525494" cy="520700"/>
            <a:chOff x="0" y="0"/>
            <a:chExt cx="700659" cy="694267"/>
          </a:xfrm>
        </p:grpSpPr>
        <p:grpSp>
          <p:nvGrpSpPr>
            <p:cNvPr name="Group 3" id="3"/>
            <p:cNvGrpSpPr/>
            <p:nvPr/>
          </p:nvGrpSpPr>
          <p:grpSpPr>
            <a:xfrm rot="0">
              <a:off x="0" y="0"/>
              <a:ext cx="700659" cy="694267"/>
              <a:chOff x="0" y="0"/>
              <a:chExt cx="138402" cy="137139"/>
            </a:xfrm>
          </p:grpSpPr>
          <p:sp>
            <p:nvSpPr>
              <p:cNvPr name="Freeform 4" id="4"/>
              <p:cNvSpPr/>
              <p:nvPr/>
            </p:nvSpPr>
            <p:spPr>
              <a:xfrm flipH="false" flipV="false" rot="0">
                <a:off x="0" y="0"/>
                <a:ext cx="138402" cy="137139"/>
              </a:xfrm>
              <a:custGeom>
                <a:avLst/>
                <a:gdLst/>
                <a:ahLst/>
                <a:cxnLst/>
                <a:rect r="r" b="b" t="t" l="l"/>
                <a:pathLst>
                  <a:path h="137139" w="138402">
                    <a:moveTo>
                      <a:pt x="0" y="0"/>
                    </a:moveTo>
                    <a:lnTo>
                      <a:pt x="138402" y="0"/>
                    </a:lnTo>
                    <a:lnTo>
                      <a:pt x="138402" y="137139"/>
                    </a:lnTo>
                    <a:lnTo>
                      <a:pt x="0" y="137139"/>
                    </a:lnTo>
                    <a:close/>
                  </a:path>
                </a:pathLst>
              </a:custGeom>
              <a:solidFill>
                <a:srgbClr val="152540"/>
              </a:solidFill>
            </p:spPr>
          </p:sp>
          <p:sp>
            <p:nvSpPr>
              <p:cNvPr name="TextBox 5" id="5"/>
              <p:cNvSpPr txBox="true"/>
              <p:nvPr/>
            </p:nvSpPr>
            <p:spPr>
              <a:xfrm>
                <a:off x="0" y="-47625"/>
                <a:ext cx="138402" cy="184764"/>
              </a:xfrm>
              <a:prstGeom prst="rect">
                <a:avLst/>
              </a:prstGeom>
            </p:spPr>
            <p:txBody>
              <a:bodyPr anchor="ctr" rtlCol="false" tIns="50800" lIns="50800" bIns="50800" rIns="50800"/>
              <a:lstStyle/>
              <a:p>
                <a:pPr algn="ctr">
                  <a:lnSpc>
                    <a:spcPts val="3374"/>
                  </a:lnSpc>
                </a:pPr>
              </a:p>
            </p:txBody>
          </p:sp>
        </p:grpSp>
        <p:sp>
          <p:nvSpPr>
            <p:cNvPr name="TextBox 6" id="6"/>
            <p:cNvSpPr txBox="true"/>
            <p:nvPr/>
          </p:nvSpPr>
          <p:spPr>
            <a:xfrm rot="0">
              <a:off x="0" y="40217"/>
              <a:ext cx="700659" cy="556683"/>
            </a:xfrm>
            <a:prstGeom prst="rect">
              <a:avLst/>
            </a:prstGeom>
          </p:spPr>
          <p:txBody>
            <a:bodyPr anchor="t" rtlCol="false" tIns="0" lIns="0" bIns="0" rIns="0">
              <a:spAutoFit/>
            </a:bodyPr>
            <a:lstStyle/>
            <a:p>
              <a:pPr algn="ctr">
                <a:lnSpc>
                  <a:spcPts val="3500"/>
                </a:lnSpc>
              </a:pPr>
              <a:r>
                <a:rPr lang="en-US" b="true" sz="2500">
                  <a:solidFill>
                    <a:srgbClr val="EDE8E4"/>
                  </a:solidFill>
                  <a:latin typeface="Glacial Indifference Bold"/>
                  <a:ea typeface="Glacial Indifference Bold"/>
                  <a:cs typeface="Glacial Indifference Bold"/>
                  <a:sym typeface="Glacial Indifference Bold"/>
                </a:rPr>
                <a:t>7</a:t>
              </a:r>
            </a:p>
          </p:txBody>
        </p:sp>
      </p:grpSp>
      <p:sp>
        <p:nvSpPr>
          <p:cNvPr name="Freeform 7" id="7"/>
          <p:cNvSpPr/>
          <p:nvPr/>
        </p:nvSpPr>
        <p:spPr>
          <a:xfrm flipH="false" flipV="false" rot="0">
            <a:off x="2174904" y="1938767"/>
            <a:ext cx="13938192" cy="7840233"/>
          </a:xfrm>
          <a:custGeom>
            <a:avLst/>
            <a:gdLst/>
            <a:ahLst/>
            <a:cxnLst/>
            <a:rect r="r" b="b" t="t" l="l"/>
            <a:pathLst>
              <a:path h="7840233" w="13938192">
                <a:moveTo>
                  <a:pt x="0" y="0"/>
                </a:moveTo>
                <a:lnTo>
                  <a:pt x="13938192" y="0"/>
                </a:lnTo>
                <a:lnTo>
                  <a:pt x="13938192" y="7840233"/>
                </a:lnTo>
                <a:lnTo>
                  <a:pt x="0" y="7840233"/>
                </a:lnTo>
                <a:lnTo>
                  <a:pt x="0" y="0"/>
                </a:lnTo>
                <a:close/>
              </a:path>
            </a:pathLst>
          </a:custGeom>
          <a:blipFill>
            <a:blip r:embed="rId2"/>
            <a:stretch>
              <a:fillRect l="0" t="0" r="0" b="0"/>
            </a:stretch>
          </a:blipFill>
        </p:spPr>
      </p:sp>
      <p:sp>
        <p:nvSpPr>
          <p:cNvPr name="TextBox 8" id="8"/>
          <p:cNvSpPr txBox="true"/>
          <p:nvPr/>
        </p:nvSpPr>
        <p:spPr>
          <a:xfrm rot="0">
            <a:off x="1028700" y="589280"/>
            <a:ext cx="16230600" cy="877570"/>
          </a:xfrm>
          <a:prstGeom prst="rect">
            <a:avLst/>
          </a:prstGeom>
        </p:spPr>
        <p:txBody>
          <a:bodyPr anchor="t" rtlCol="false" tIns="0" lIns="0" bIns="0" rIns="0">
            <a:spAutoFit/>
          </a:bodyPr>
          <a:lstStyle/>
          <a:p>
            <a:pPr algn="just">
              <a:lnSpc>
                <a:spcPts val="3500"/>
              </a:lnSpc>
            </a:pPr>
            <a:r>
              <a:rPr lang="en-US" sz="2800">
                <a:solidFill>
                  <a:srgbClr val="000000"/>
                </a:solidFill>
                <a:latin typeface="Glacial Indifference"/>
                <a:ea typeface="Glacial Indifference"/>
                <a:cs typeface="Glacial Indifference"/>
                <a:sym typeface="Glacial Indifference"/>
              </a:rPr>
              <a:t>Al entrar al carrito, pude comprobar que el producto se agregó correctamente al carrito de compras, comprobando así que el carrito de compras se implementó de forma correcta.</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59300" y="9258300"/>
            <a:ext cx="525494" cy="520700"/>
            <a:chOff x="0" y="0"/>
            <a:chExt cx="700659" cy="694267"/>
          </a:xfrm>
        </p:grpSpPr>
        <p:grpSp>
          <p:nvGrpSpPr>
            <p:cNvPr name="Group 3" id="3"/>
            <p:cNvGrpSpPr/>
            <p:nvPr/>
          </p:nvGrpSpPr>
          <p:grpSpPr>
            <a:xfrm rot="0">
              <a:off x="0" y="0"/>
              <a:ext cx="700659" cy="694267"/>
              <a:chOff x="0" y="0"/>
              <a:chExt cx="138402" cy="137139"/>
            </a:xfrm>
          </p:grpSpPr>
          <p:sp>
            <p:nvSpPr>
              <p:cNvPr name="Freeform 4" id="4"/>
              <p:cNvSpPr/>
              <p:nvPr/>
            </p:nvSpPr>
            <p:spPr>
              <a:xfrm flipH="false" flipV="false" rot="0">
                <a:off x="0" y="0"/>
                <a:ext cx="138402" cy="137139"/>
              </a:xfrm>
              <a:custGeom>
                <a:avLst/>
                <a:gdLst/>
                <a:ahLst/>
                <a:cxnLst/>
                <a:rect r="r" b="b" t="t" l="l"/>
                <a:pathLst>
                  <a:path h="137139" w="138402">
                    <a:moveTo>
                      <a:pt x="0" y="0"/>
                    </a:moveTo>
                    <a:lnTo>
                      <a:pt x="138402" y="0"/>
                    </a:lnTo>
                    <a:lnTo>
                      <a:pt x="138402" y="137139"/>
                    </a:lnTo>
                    <a:lnTo>
                      <a:pt x="0" y="137139"/>
                    </a:lnTo>
                    <a:close/>
                  </a:path>
                </a:pathLst>
              </a:custGeom>
              <a:solidFill>
                <a:srgbClr val="152540"/>
              </a:solidFill>
            </p:spPr>
          </p:sp>
          <p:sp>
            <p:nvSpPr>
              <p:cNvPr name="TextBox 5" id="5"/>
              <p:cNvSpPr txBox="true"/>
              <p:nvPr/>
            </p:nvSpPr>
            <p:spPr>
              <a:xfrm>
                <a:off x="0" y="-47625"/>
                <a:ext cx="138402" cy="184764"/>
              </a:xfrm>
              <a:prstGeom prst="rect">
                <a:avLst/>
              </a:prstGeom>
            </p:spPr>
            <p:txBody>
              <a:bodyPr anchor="ctr" rtlCol="false" tIns="50800" lIns="50800" bIns="50800" rIns="50800"/>
              <a:lstStyle/>
              <a:p>
                <a:pPr algn="ctr">
                  <a:lnSpc>
                    <a:spcPts val="3374"/>
                  </a:lnSpc>
                </a:pPr>
              </a:p>
            </p:txBody>
          </p:sp>
        </p:grpSp>
        <p:sp>
          <p:nvSpPr>
            <p:cNvPr name="TextBox 6" id="6"/>
            <p:cNvSpPr txBox="true"/>
            <p:nvPr/>
          </p:nvSpPr>
          <p:spPr>
            <a:xfrm rot="0">
              <a:off x="0" y="40217"/>
              <a:ext cx="700659" cy="556683"/>
            </a:xfrm>
            <a:prstGeom prst="rect">
              <a:avLst/>
            </a:prstGeom>
          </p:spPr>
          <p:txBody>
            <a:bodyPr anchor="t" rtlCol="false" tIns="0" lIns="0" bIns="0" rIns="0">
              <a:spAutoFit/>
            </a:bodyPr>
            <a:lstStyle/>
            <a:p>
              <a:pPr algn="ctr">
                <a:lnSpc>
                  <a:spcPts val="3500"/>
                </a:lnSpc>
              </a:pPr>
              <a:r>
                <a:rPr lang="en-US" b="true" sz="2500">
                  <a:solidFill>
                    <a:srgbClr val="EDE8E4"/>
                  </a:solidFill>
                  <a:latin typeface="Glacial Indifference Bold"/>
                  <a:ea typeface="Glacial Indifference Bold"/>
                  <a:cs typeface="Glacial Indifference Bold"/>
                  <a:sym typeface="Glacial Indifference Bold"/>
                </a:rPr>
                <a:t>8</a:t>
              </a:r>
            </a:p>
          </p:txBody>
        </p:sp>
      </p:grpSp>
      <p:sp>
        <p:nvSpPr>
          <p:cNvPr name="Freeform 7" id="7"/>
          <p:cNvSpPr/>
          <p:nvPr/>
        </p:nvSpPr>
        <p:spPr>
          <a:xfrm flipH="false" flipV="false" rot="0">
            <a:off x="2549146" y="2359790"/>
            <a:ext cx="13189707" cy="7419210"/>
          </a:xfrm>
          <a:custGeom>
            <a:avLst/>
            <a:gdLst/>
            <a:ahLst/>
            <a:cxnLst/>
            <a:rect r="r" b="b" t="t" l="l"/>
            <a:pathLst>
              <a:path h="7419210" w="13189707">
                <a:moveTo>
                  <a:pt x="0" y="0"/>
                </a:moveTo>
                <a:lnTo>
                  <a:pt x="13189708" y="0"/>
                </a:lnTo>
                <a:lnTo>
                  <a:pt x="13189708" y="7419210"/>
                </a:lnTo>
                <a:lnTo>
                  <a:pt x="0" y="7419210"/>
                </a:lnTo>
                <a:lnTo>
                  <a:pt x="0" y="0"/>
                </a:lnTo>
                <a:close/>
              </a:path>
            </a:pathLst>
          </a:custGeom>
          <a:blipFill>
            <a:blip r:embed="rId2"/>
            <a:stretch>
              <a:fillRect l="0" t="0" r="0" b="0"/>
            </a:stretch>
          </a:blipFill>
        </p:spPr>
      </p:sp>
      <p:sp>
        <p:nvSpPr>
          <p:cNvPr name="TextBox 8" id="8"/>
          <p:cNvSpPr txBox="true"/>
          <p:nvPr/>
        </p:nvSpPr>
        <p:spPr>
          <a:xfrm rot="0">
            <a:off x="1028700" y="589280"/>
            <a:ext cx="16230600" cy="1315720"/>
          </a:xfrm>
          <a:prstGeom prst="rect">
            <a:avLst/>
          </a:prstGeom>
        </p:spPr>
        <p:txBody>
          <a:bodyPr anchor="t" rtlCol="false" tIns="0" lIns="0" bIns="0" rIns="0">
            <a:spAutoFit/>
          </a:bodyPr>
          <a:lstStyle/>
          <a:p>
            <a:pPr algn="just">
              <a:lnSpc>
                <a:spcPts val="3500"/>
              </a:lnSpc>
            </a:pPr>
            <a:r>
              <a:rPr lang="en-US" sz="2800">
                <a:solidFill>
                  <a:srgbClr val="000000"/>
                </a:solidFill>
                <a:latin typeface="Glacial Indifference"/>
                <a:ea typeface="Glacial Indifference"/>
                <a:cs typeface="Glacial Indifference"/>
                <a:sym typeface="Glacial Indifference"/>
              </a:rPr>
              <a:t>Así mismo, al verificar las funcionalidades del carrito tales como aumentar la cantidad de productos pudé comprobar que se implemento correctamente ya que en este caso me permitió aumentar la cantidad de productos de forma correcta y al mismo tiempo calculó de forma dinamica el precio total a pagar.</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7259300" y="9258300"/>
            <a:ext cx="525494" cy="520700"/>
            <a:chOff x="0" y="0"/>
            <a:chExt cx="700659" cy="694267"/>
          </a:xfrm>
        </p:grpSpPr>
        <p:grpSp>
          <p:nvGrpSpPr>
            <p:cNvPr name="Group 3" id="3"/>
            <p:cNvGrpSpPr/>
            <p:nvPr/>
          </p:nvGrpSpPr>
          <p:grpSpPr>
            <a:xfrm rot="0">
              <a:off x="0" y="0"/>
              <a:ext cx="700659" cy="694267"/>
              <a:chOff x="0" y="0"/>
              <a:chExt cx="138402" cy="137139"/>
            </a:xfrm>
          </p:grpSpPr>
          <p:sp>
            <p:nvSpPr>
              <p:cNvPr name="Freeform 4" id="4"/>
              <p:cNvSpPr/>
              <p:nvPr/>
            </p:nvSpPr>
            <p:spPr>
              <a:xfrm flipH="false" flipV="false" rot="0">
                <a:off x="0" y="0"/>
                <a:ext cx="138402" cy="137139"/>
              </a:xfrm>
              <a:custGeom>
                <a:avLst/>
                <a:gdLst/>
                <a:ahLst/>
                <a:cxnLst/>
                <a:rect r="r" b="b" t="t" l="l"/>
                <a:pathLst>
                  <a:path h="137139" w="138402">
                    <a:moveTo>
                      <a:pt x="0" y="0"/>
                    </a:moveTo>
                    <a:lnTo>
                      <a:pt x="138402" y="0"/>
                    </a:lnTo>
                    <a:lnTo>
                      <a:pt x="138402" y="137139"/>
                    </a:lnTo>
                    <a:lnTo>
                      <a:pt x="0" y="137139"/>
                    </a:lnTo>
                    <a:close/>
                  </a:path>
                </a:pathLst>
              </a:custGeom>
              <a:solidFill>
                <a:srgbClr val="152540"/>
              </a:solidFill>
            </p:spPr>
          </p:sp>
          <p:sp>
            <p:nvSpPr>
              <p:cNvPr name="TextBox 5" id="5"/>
              <p:cNvSpPr txBox="true"/>
              <p:nvPr/>
            </p:nvSpPr>
            <p:spPr>
              <a:xfrm>
                <a:off x="0" y="-47625"/>
                <a:ext cx="138402" cy="184764"/>
              </a:xfrm>
              <a:prstGeom prst="rect">
                <a:avLst/>
              </a:prstGeom>
            </p:spPr>
            <p:txBody>
              <a:bodyPr anchor="ctr" rtlCol="false" tIns="50800" lIns="50800" bIns="50800" rIns="50800"/>
              <a:lstStyle/>
              <a:p>
                <a:pPr algn="ctr">
                  <a:lnSpc>
                    <a:spcPts val="3374"/>
                  </a:lnSpc>
                </a:pPr>
              </a:p>
            </p:txBody>
          </p:sp>
        </p:grpSp>
        <p:sp>
          <p:nvSpPr>
            <p:cNvPr name="TextBox 6" id="6"/>
            <p:cNvSpPr txBox="true"/>
            <p:nvPr/>
          </p:nvSpPr>
          <p:spPr>
            <a:xfrm rot="0">
              <a:off x="0" y="40217"/>
              <a:ext cx="700659" cy="556683"/>
            </a:xfrm>
            <a:prstGeom prst="rect">
              <a:avLst/>
            </a:prstGeom>
          </p:spPr>
          <p:txBody>
            <a:bodyPr anchor="t" rtlCol="false" tIns="0" lIns="0" bIns="0" rIns="0">
              <a:spAutoFit/>
            </a:bodyPr>
            <a:lstStyle/>
            <a:p>
              <a:pPr algn="ctr">
                <a:lnSpc>
                  <a:spcPts val="3500"/>
                </a:lnSpc>
              </a:pPr>
              <a:r>
                <a:rPr lang="en-US" b="true" sz="2500">
                  <a:solidFill>
                    <a:srgbClr val="EDE8E4"/>
                  </a:solidFill>
                  <a:latin typeface="Glacial Indifference Bold"/>
                  <a:ea typeface="Glacial Indifference Bold"/>
                  <a:cs typeface="Glacial Indifference Bold"/>
                  <a:sym typeface="Glacial Indifference Bold"/>
                </a:rPr>
                <a:t>9</a:t>
              </a:r>
            </a:p>
          </p:txBody>
        </p:sp>
      </p:grpSp>
      <p:sp>
        <p:nvSpPr>
          <p:cNvPr name="TextBox 7" id="7"/>
          <p:cNvSpPr txBox="true"/>
          <p:nvPr/>
        </p:nvSpPr>
        <p:spPr>
          <a:xfrm rot="0">
            <a:off x="1747169" y="4337049"/>
            <a:ext cx="14793661" cy="1450978"/>
          </a:xfrm>
          <a:prstGeom prst="rect">
            <a:avLst/>
          </a:prstGeom>
        </p:spPr>
        <p:txBody>
          <a:bodyPr anchor="t" rtlCol="false" tIns="0" lIns="0" bIns="0" rIns="0">
            <a:spAutoFit/>
          </a:bodyPr>
          <a:lstStyle/>
          <a:p>
            <a:pPr algn="ctr">
              <a:lnSpc>
                <a:spcPts val="11899"/>
              </a:lnSpc>
            </a:pPr>
            <a:r>
              <a:rPr lang="en-US" b="true" sz="8499">
                <a:solidFill>
                  <a:srgbClr val="000000"/>
                </a:solidFill>
                <a:latin typeface="Glacial Indifference Bold"/>
                <a:ea typeface="Glacial Indifference Bold"/>
                <a:cs typeface="Glacial Indifference Bold"/>
                <a:sym typeface="Glacial Indifference Bold"/>
              </a:rPr>
              <a:t>PRUEBAS DEL CHECKOUT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59300" y="9258300"/>
            <a:ext cx="525494" cy="520700"/>
            <a:chOff x="0" y="0"/>
            <a:chExt cx="700659" cy="694267"/>
          </a:xfrm>
        </p:grpSpPr>
        <p:grpSp>
          <p:nvGrpSpPr>
            <p:cNvPr name="Group 3" id="3"/>
            <p:cNvGrpSpPr/>
            <p:nvPr/>
          </p:nvGrpSpPr>
          <p:grpSpPr>
            <a:xfrm rot="0">
              <a:off x="0" y="0"/>
              <a:ext cx="700659" cy="694267"/>
              <a:chOff x="0" y="0"/>
              <a:chExt cx="138402" cy="137139"/>
            </a:xfrm>
          </p:grpSpPr>
          <p:sp>
            <p:nvSpPr>
              <p:cNvPr name="Freeform 4" id="4"/>
              <p:cNvSpPr/>
              <p:nvPr/>
            </p:nvSpPr>
            <p:spPr>
              <a:xfrm flipH="false" flipV="false" rot="0">
                <a:off x="0" y="0"/>
                <a:ext cx="138402" cy="137139"/>
              </a:xfrm>
              <a:custGeom>
                <a:avLst/>
                <a:gdLst/>
                <a:ahLst/>
                <a:cxnLst/>
                <a:rect r="r" b="b" t="t" l="l"/>
                <a:pathLst>
                  <a:path h="137139" w="138402">
                    <a:moveTo>
                      <a:pt x="0" y="0"/>
                    </a:moveTo>
                    <a:lnTo>
                      <a:pt x="138402" y="0"/>
                    </a:lnTo>
                    <a:lnTo>
                      <a:pt x="138402" y="137139"/>
                    </a:lnTo>
                    <a:lnTo>
                      <a:pt x="0" y="137139"/>
                    </a:lnTo>
                    <a:close/>
                  </a:path>
                </a:pathLst>
              </a:custGeom>
              <a:solidFill>
                <a:srgbClr val="152540"/>
              </a:solidFill>
            </p:spPr>
          </p:sp>
          <p:sp>
            <p:nvSpPr>
              <p:cNvPr name="TextBox 5" id="5"/>
              <p:cNvSpPr txBox="true"/>
              <p:nvPr/>
            </p:nvSpPr>
            <p:spPr>
              <a:xfrm>
                <a:off x="0" y="-47625"/>
                <a:ext cx="138402" cy="184764"/>
              </a:xfrm>
              <a:prstGeom prst="rect">
                <a:avLst/>
              </a:prstGeom>
            </p:spPr>
            <p:txBody>
              <a:bodyPr anchor="ctr" rtlCol="false" tIns="50800" lIns="50800" bIns="50800" rIns="50800"/>
              <a:lstStyle/>
              <a:p>
                <a:pPr algn="ctr">
                  <a:lnSpc>
                    <a:spcPts val="3374"/>
                  </a:lnSpc>
                </a:pPr>
              </a:p>
            </p:txBody>
          </p:sp>
        </p:grpSp>
        <p:sp>
          <p:nvSpPr>
            <p:cNvPr name="TextBox 6" id="6"/>
            <p:cNvSpPr txBox="true"/>
            <p:nvPr/>
          </p:nvSpPr>
          <p:spPr>
            <a:xfrm rot="0">
              <a:off x="0" y="40217"/>
              <a:ext cx="700659" cy="556683"/>
            </a:xfrm>
            <a:prstGeom prst="rect">
              <a:avLst/>
            </a:prstGeom>
          </p:spPr>
          <p:txBody>
            <a:bodyPr anchor="t" rtlCol="false" tIns="0" lIns="0" bIns="0" rIns="0">
              <a:spAutoFit/>
            </a:bodyPr>
            <a:lstStyle/>
            <a:p>
              <a:pPr algn="ctr">
                <a:lnSpc>
                  <a:spcPts val="3500"/>
                </a:lnSpc>
              </a:pPr>
              <a:r>
                <a:rPr lang="en-US" b="true" sz="2500">
                  <a:solidFill>
                    <a:srgbClr val="EDE8E4"/>
                  </a:solidFill>
                  <a:latin typeface="Glacial Indifference Bold"/>
                  <a:ea typeface="Glacial Indifference Bold"/>
                  <a:cs typeface="Glacial Indifference Bold"/>
                  <a:sym typeface="Glacial Indifference Bold"/>
                </a:rPr>
                <a:t>10</a:t>
              </a:r>
            </a:p>
          </p:txBody>
        </p:sp>
      </p:grpSp>
      <p:sp>
        <p:nvSpPr>
          <p:cNvPr name="Freeform 7" id="7"/>
          <p:cNvSpPr/>
          <p:nvPr/>
        </p:nvSpPr>
        <p:spPr>
          <a:xfrm flipH="false" flipV="false" rot="0">
            <a:off x="2586650" y="2401982"/>
            <a:ext cx="13114700" cy="7377019"/>
          </a:xfrm>
          <a:custGeom>
            <a:avLst/>
            <a:gdLst/>
            <a:ahLst/>
            <a:cxnLst/>
            <a:rect r="r" b="b" t="t" l="l"/>
            <a:pathLst>
              <a:path h="7377019" w="13114700">
                <a:moveTo>
                  <a:pt x="0" y="0"/>
                </a:moveTo>
                <a:lnTo>
                  <a:pt x="13114700" y="0"/>
                </a:lnTo>
                <a:lnTo>
                  <a:pt x="13114700" y="7377018"/>
                </a:lnTo>
                <a:lnTo>
                  <a:pt x="0" y="7377018"/>
                </a:lnTo>
                <a:lnTo>
                  <a:pt x="0" y="0"/>
                </a:lnTo>
                <a:close/>
              </a:path>
            </a:pathLst>
          </a:custGeom>
          <a:blipFill>
            <a:blip r:embed="rId2"/>
            <a:stretch>
              <a:fillRect l="0" t="0" r="0" b="0"/>
            </a:stretch>
          </a:blipFill>
        </p:spPr>
      </p:sp>
      <p:sp>
        <p:nvSpPr>
          <p:cNvPr name="TextBox 8" id="8"/>
          <p:cNvSpPr txBox="true"/>
          <p:nvPr/>
        </p:nvSpPr>
        <p:spPr>
          <a:xfrm rot="0">
            <a:off x="1028700" y="1178829"/>
            <a:ext cx="16230600" cy="877570"/>
          </a:xfrm>
          <a:prstGeom prst="rect">
            <a:avLst/>
          </a:prstGeom>
        </p:spPr>
        <p:txBody>
          <a:bodyPr anchor="t" rtlCol="false" tIns="0" lIns="0" bIns="0" rIns="0">
            <a:spAutoFit/>
          </a:bodyPr>
          <a:lstStyle/>
          <a:p>
            <a:pPr algn="just">
              <a:lnSpc>
                <a:spcPts val="3500"/>
              </a:lnSpc>
            </a:pPr>
            <a:r>
              <a:rPr lang="en-US" sz="2800">
                <a:solidFill>
                  <a:srgbClr val="000000"/>
                </a:solidFill>
                <a:latin typeface="Glacial Indifference"/>
                <a:ea typeface="Glacial Indifference"/>
                <a:cs typeface="Glacial Indifference"/>
                <a:sym typeface="Glacial Indifference"/>
              </a:rPr>
              <a:t>Para continuar con las pruebas, procedí a comprobar el funcionamiento del checkout, para ello, después de agregar un producto al carrito presione el botón </a:t>
            </a:r>
            <a:r>
              <a:rPr lang="en-US" b="true" sz="2800">
                <a:solidFill>
                  <a:srgbClr val="000000"/>
                </a:solidFill>
                <a:latin typeface="Glacial Indifference Bold"/>
                <a:ea typeface="Glacial Indifference Bold"/>
                <a:cs typeface="Glacial Indifference Bold"/>
                <a:sym typeface="Glacial Indifference Bold"/>
              </a:rPr>
              <a:t>“Finalizar compra”.</a:t>
            </a:r>
          </a:p>
        </p:txBody>
      </p:sp>
      <p:sp>
        <p:nvSpPr>
          <p:cNvPr name="TextBox 9" id="9"/>
          <p:cNvSpPr txBox="true"/>
          <p:nvPr/>
        </p:nvSpPr>
        <p:spPr>
          <a:xfrm rot="0">
            <a:off x="3013329" y="266699"/>
            <a:ext cx="12261342" cy="762001"/>
          </a:xfrm>
          <a:prstGeom prst="rect">
            <a:avLst/>
          </a:prstGeom>
        </p:spPr>
        <p:txBody>
          <a:bodyPr anchor="t" rtlCol="false" tIns="0" lIns="0" bIns="0" rIns="0">
            <a:spAutoFit/>
          </a:bodyPr>
          <a:lstStyle/>
          <a:p>
            <a:pPr algn="ctr">
              <a:lnSpc>
                <a:spcPts val="6299"/>
              </a:lnSpc>
            </a:pPr>
            <a:r>
              <a:rPr lang="en-US" b="true" sz="4499">
                <a:solidFill>
                  <a:srgbClr val="000000"/>
                </a:solidFill>
                <a:latin typeface="Glacial Indifference Bold"/>
                <a:ea typeface="Glacial Indifference Bold"/>
                <a:cs typeface="Glacial Indifference Bold"/>
                <a:sym typeface="Glacial Indifference Bold"/>
              </a:rPr>
              <a:t>PRUEBAS DEL CHECKOUT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59300" y="9258300"/>
            <a:ext cx="525494" cy="520700"/>
            <a:chOff x="0" y="0"/>
            <a:chExt cx="700659" cy="694267"/>
          </a:xfrm>
        </p:grpSpPr>
        <p:grpSp>
          <p:nvGrpSpPr>
            <p:cNvPr name="Group 3" id="3"/>
            <p:cNvGrpSpPr/>
            <p:nvPr/>
          </p:nvGrpSpPr>
          <p:grpSpPr>
            <a:xfrm rot="0">
              <a:off x="0" y="0"/>
              <a:ext cx="700659" cy="694267"/>
              <a:chOff x="0" y="0"/>
              <a:chExt cx="138402" cy="137139"/>
            </a:xfrm>
          </p:grpSpPr>
          <p:sp>
            <p:nvSpPr>
              <p:cNvPr name="Freeform 4" id="4"/>
              <p:cNvSpPr/>
              <p:nvPr/>
            </p:nvSpPr>
            <p:spPr>
              <a:xfrm flipH="false" flipV="false" rot="0">
                <a:off x="0" y="0"/>
                <a:ext cx="138402" cy="137139"/>
              </a:xfrm>
              <a:custGeom>
                <a:avLst/>
                <a:gdLst/>
                <a:ahLst/>
                <a:cxnLst/>
                <a:rect r="r" b="b" t="t" l="l"/>
                <a:pathLst>
                  <a:path h="137139" w="138402">
                    <a:moveTo>
                      <a:pt x="0" y="0"/>
                    </a:moveTo>
                    <a:lnTo>
                      <a:pt x="138402" y="0"/>
                    </a:lnTo>
                    <a:lnTo>
                      <a:pt x="138402" y="137139"/>
                    </a:lnTo>
                    <a:lnTo>
                      <a:pt x="0" y="137139"/>
                    </a:lnTo>
                    <a:close/>
                  </a:path>
                </a:pathLst>
              </a:custGeom>
              <a:solidFill>
                <a:srgbClr val="152540"/>
              </a:solidFill>
            </p:spPr>
          </p:sp>
          <p:sp>
            <p:nvSpPr>
              <p:cNvPr name="TextBox 5" id="5"/>
              <p:cNvSpPr txBox="true"/>
              <p:nvPr/>
            </p:nvSpPr>
            <p:spPr>
              <a:xfrm>
                <a:off x="0" y="-47625"/>
                <a:ext cx="138402" cy="184764"/>
              </a:xfrm>
              <a:prstGeom prst="rect">
                <a:avLst/>
              </a:prstGeom>
            </p:spPr>
            <p:txBody>
              <a:bodyPr anchor="ctr" rtlCol="false" tIns="50800" lIns="50800" bIns="50800" rIns="50800"/>
              <a:lstStyle/>
              <a:p>
                <a:pPr algn="ctr">
                  <a:lnSpc>
                    <a:spcPts val="3374"/>
                  </a:lnSpc>
                </a:pPr>
              </a:p>
            </p:txBody>
          </p:sp>
        </p:grpSp>
        <p:sp>
          <p:nvSpPr>
            <p:cNvPr name="TextBox 6" id="6"/>
            <p:cNvSpPr txBox="true"/>
            <p:nvPr/>
          </p:nvSpPr>
          <p:spPr>
            <a:xfrm rot="0">
              <a:off x="0" y="40217"/>
              <a:ext cx="700659" cy="556683"/>
            </a:xfrm>
            <a:prstGeom prst="rect">
              <a:avLst/>
            </a:prstGeom>
          </p:spPr>
          <p:txBody>
            <a:bodyPr anchor="t" rtlCol="false" tIns="0" lIns="0" bIns="0" rIns="0">
              <a:spAutoFit/>
            </a:bodyPr>
            <a:lstStyle/>
            <a:p>
              <a:pPr algn="ctr">
                <a:lnSpc>
                  <a:spcPts val="3500"/>
                </a:lnSpc>
              </a:pPr>
              <a:r>
                <a:rPr lang="en-US" b="true" sz="2500">
                  <a:solidFill>
                    <a:srgbClr val="EDE8E4"/>
                  </a:solidFill>
                  <a:latin typeface="Glacial Indifference Bold"/>
                  <a:ea typeface="Glacial Indifference Bold"/>
                  <a:cs typeface="Glacial Indifference Bold"/>
                  <a:sym typeface="Glacial Indifference Bold"/>
                </a:rPr>
                <a:t>11</a:t>
              </a:r>
            </a:p>
          </p:txBody>
        </p:sp>
      </p:grpSp>
      <p:sp>
        <p:nvSpPr>
          <p:cNvPr name="Freeform 7" id="7"/>
          <p:cNvSpPr/>
          <p:nvPr/>
        </p:nvSpPr>
        <p:spPr>
          <a:xfrm flipH="false" flipV="false" rot="0">
            <a:off x="2422019" y="2216771"/>
            <a:ext cx="13443962" cy="7562229"/>
          </a:xfrm>
          <a:custGeom>
            <a:avLst/>
            <a:gdLst/>
            <a:ahLst/>
            <a:cxnLst/>
            <a:rect r="r" b="b" t="t" l="l"/>
            <a:pathLst>
              <a:path h="7562229" w="13443962">
                <a:moveTo>
                  <a:pt x="0" y="0"/>
                </a:moveTo>
                <a:lnTo>
                  <a:pt x="13443962" y="0"/>
                </a:lnTo>
                <a:lnTo>
                  <a:pt x="13443962" y="7562229"/>
                </a:lnTo>
                <a:lnTo>
                  <a:pt x="0" y="7562229"/>
                </a:lnTo>
                <a:lnTo>
                  <a:pt x="0" y="0"/>
                </a:lnTo>
                <a:close/>
              </a:path>
            </a:pathLst>
          </a:custGeom>
          <a:blipFill>
            <a:blip r:embed="rId2"/>
            <a:stretch>
              <a:fillRect l="0" t="0" r="0" b="0"/>
            </a:stretch>
          </a:blipFill>
        </p:spPr>
      </p:sp>
      <p:sp>
        <p:nvSpPr>
          <p:cNvPr name="TextBox 8" id="8"/>
          <p:cNvSpPr txBox="true"/>
          <p:nvPr/>
        </p:nvSpPr>
        <p:spPr>
          <a:xfrm rot="0">
            <a:off x="1028700" y="589280"/>
            <a:ext cx="16230600" cy="1315720"/>
          </a:xfrm>
          <a:prstGeom prst="rect">
            <a:avLst/>
          </a:prstGeom>
        </p:spPr>
        <p:txBody>
          <a:bodyPr anchor="t" rtlCol="false" tIns="0" lIns="0" bIns="0" rIns="0">
            <a:spAutoFit/>
          </a:bodyPr>
          <a:lstStyle/>
          <a:p>
            <a:pPr algn="just">
              <a:lnSpc>
                <a:spcPts val="3500"/>
              </a:lnSpc>
            </a:pPr>
            <a:r>
              <a:rPr lang="en-US" sz="2800">
                <a:solidFill>
                  <a:srgbClr val="000000"/>
                </a:solidFill>
                <a:latin typeface="Glacial Indifference"/>
                <a:ea typeface="Glacial Indifference"/>
                <a:cs typeface="Glacial Indifference"/>
                <a:sym typeface="Glacial Indifference"/>
              </a:rPr>
              <a:t>Hecho lo anterior, me apareció la siguiente interfaz para finalizar la compra, para ello coloque todos los datos del usuario, tales como su nombre, numero de teléfono, dirección y método de pago, al finalizar presione el botón</a:t>
            </a:r>
            <a:r>
              <a:rPr lang="en-US" b="true" sz="2800">
                <a:solidFill>
                  <a:srgbClr val="000000"/>
                </a:solidFill>
                <a:latin typeface="Glacial Indifference Bold"/>
                <a:ea typeface="Glacial Indifference Bold"/>
                <a:cs typeface="Glacial Indifference Bold"/>
                <a:sym typeface="Glacial Indifference Bold"/>
              </a:rPr>
              <a:t> “Confirmar compra”.</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59300" y="9258300"/>
            <a:ext cx="525494" cy="520700"/>
            <a:chOff x="0" y="0"/>
            <a:chExt cx="700659" cy="694267"/>
          </a:xfrm>
        </p:grpSpPr>
        <p:grpSp>
          <p:nvGrpSpPr>
            <p:cNvPr name="Group 3" id="3"/>
            <p:cNvGrpSpPr/>
            <p:nvPr/>
          </p:nvGrpSpPr>
          <p:grpSpPr>
            <a:xfrm rot="0">
              <a:off x="0" y="0"/>
              <a:ext cx="700659" cy="694267"/>
              <a:chOff x="0" y="0"/>
              <a:chExt cx="138402" cy="137139"/>
            </a:xfrm>
          </p:grpSpPr>
          <p:sp>
            <p:nvSpPr>
              <p:cNvPr name="Freeform 4" id="4"/>
              <p:cNvSpPr/>
              <p:nvPr/>
            </p:nvSpPr>
            <p:spPr>
              <a:xfrm flipH="false" flipV="false" rot="0">
                <a:off x="0" y="0"/>
                <a:ext cx="138402" cy="137139"/>
              </a:xfrm>
              <a:custGeom>
                <a:avLst/>
                <a:gdLst/>
                <a:ahLst/>
                <a:cxnLst/>
                <a:rect r="r" b="b" t="t" l="l"/>
                <a:pathLst>
                  <a:path h="137139" w="138402">
                    <a:moveTo>
                      <a:pt x="0" y="0"/>
                    </a:moveTo>
                    <a:lnTo>
                      <a:pt x="138402" y="0"/>
                    </a:lnTo>
                    <a:lnTo>
                      <a:pt x="138402" y="137139"/>
                    </a:lnTo>
                    <a:lnTo>
                      <a:pt x="0" y="137139"/>
                    </a:lnTo>
                    <a:close/>
                  </a:path>
                </a:pathLst>
              </a:custGeom>
              <a:solidFill>
                <a:srgbClr val="152540"/>
              </a:solidFill>
            </p:spPr>
          </p:sp>
          <p:sp>
            <p:nvSpPr>
              <p:cNvPr name="TextBox 5" id="5"/>
              <p:cNvSpPr txBox="true"/>
              <p:nvPr/>
            </p:nvSpPr>
            <p:spPr>
              <a:xfrm>
                <a:off x="0" y="-47625"/>
                <a:ext cx="138402" cy="184764"/>
              </a:xfrm>
              <a:prstGeom prst="rect">
                <a:avLst/>
              </a:prstGeom>
            </p:spPr>
            <p:txBody>
              <a:bodyPr anchor="ctr" rtlCol="false" tIns="50800" lIns="50800" bIns="50800" rIns="50800"/>
              <a:lstStyle/>
              <a:p>
                <a:pPr algn="ctr">
                  <a:lnSpc>
                    <a:spcPts val="3374"/>
                  </a:lnSpc>
                </a:pPr>
              </a:p>
            </p:txBody>
          </p:sp>
        </p:grpSp>
        <p:sp>
          <p:nvSpPr>
            <p:cNvPr name="TextBox 6" id="6"/>
            <p:cNvSpPr txBox="true"/>
            <p:nvPr/>
          </p:nvSpPr>
          <p:spPr>
            <a:xfrm rot="0">
              <a:off x="0" y="40217"/>
              <a:ext cx="700659" cy="556683"/>
            </a:xfrm>
            <a:prstGeom prst="rect">
              <a:avLst/>
            </a:prstGeom>
          </p:spPr>
          <p:txBody>
            <a:bodyPr anchor="t" rtlCol="false" tIns="0" lIns="0" bIns="0" rIns="0">
              <a:spAutoFit/>
            </a:bodyPr>
            <a:lstStyle/>
            <a:p>
              <a:pPr algn="ctr">
                <a:lnSpc>
                  <a:spcPts val="3500"/>
                </a:lnSpc>
              </a:pPr>
              <a:r>
                <a:rPr lang="en-US" b="true" sz="2500">
                  <a:solidFill>
                    <a:srgbClr val="EDE8E4"/>
                  </a:solidFill>
                  <a:latin typeface="Glacial Indifference Bold"/>
                  <a:ea typeface="Glacial Indifference Bold"/>
                  <a:cs typeface="Glacial Indifference Bold"/>
                  <a:sym typeface="Glacial Indifference Bold"/>
                </a:rPr>
                <a:t>12</a:t>
              </a:r>
            </a:p>
          </p:txBody>
        </p:sp>
      </p:grpSp>
      <p:sp>
        <p:nvSpPr>
          <p:cNvPr name="Freeform 7" id="7"/>
          <p:cNvSpPr/>
          <p:nvPr/>
        </p:nvSpPr>
        <p:spPr>
          <a:xfrm flipH="false" flipV="false" rot="0">
            <a:off x="1747906" y="1458394"/>
            <a:ext cx="14792189" cy="8320606"/>
          </a:xfrm>
          <a:custGeom>
            <a:avLst/>
            <a:gdLst/>
            <a:ahLst/>
            <a:cxnLst/>
            <a:rect r="r" b="b" t="t" l="l"/>
            <a:pathLst>
              <a:path h="8320606" w="14792189">
                <a:moveTo>
                  <a:pt x="0" y="0"/>
                </a:moveTo>
                <a:lnTo>
                  <a:pt x="14792188" y="0"/>
                </a:lnTo>
                <a:lnTo>
                  <a:pt x="14792188" y="8320606"/>
                </a:lnTo>
                <a:lnTo>
                  <a:pt x="0" y="8320606"/>
                </a:lnTo>
                <a:lnTo>
                  <a:pt x="0" y="0"/>
                </a:lnTo>
                <a:close/>
              </a:path>
            </a:pathLst>
          </a:custGeom>
          <a:blipFill>
            <a:blip r:embed="rId2"/>
            <a:stretch>
              <a:fillRect l="0" t="0" r="0" b="0"/>
            </a:stretch>
          </a:blipFill>
        </p:spPr>
      </p:sp>
      <p:sp>
        <p:nvSpPr>
          <p:cNvPr name="TextBox 8" id="8"/>
          <p:cNvSpPr txBox="true"/>
          <p:nvPr/>
        </p:nvSpPr>
        <p:spPr>
          <a:xfrm rot="0">
            <a:off x="1028700" y="589280"/>
            <a:ext cx="16230600" cy="439420"/>
          </a:xfrm>
          <a:prstGeom prst="rect">
            <a:avLst/>
          </a:prstGeom>
        </p:spPr>
        <p:txBody>
          <a:bodyPr anchor="t" rtlCol="false" tIns="0" lIns="0" bIns="0" rIns="0">
            <a:spAutoFit/>
          </a:bodyPr>
          <a:lstStyle/>
          <a:p>
            <a:pPr algn="just">
              <a:lnSpc>
                <a:spcPts val="3500"/>
              </a:lnSpc>
            </a:pPr>
            <a:r>
              <a:rPr lang="en-US" sz="2800">
                <a:solidFill>
                  <a:srgbClr val="000000"/>
                </a:solidFill>
                <a:latin typeface="Glacial Indifference"/>
                <a:ea typeface="Glacial Indifference"/>
                <a:cs typeface="Glacial Indifference"/>
                <a:sym typeface="Glacial Indifference"/>
              </a:rPr>
              <a:t>Hecho lo anterior, me aparecio un mensaje confirmandome que la compra se realizó de forma exitosa.</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7259300" y="9258300"/>
            <a:ext cx="525494" cy="520700"/>
            <a:chOff x="0" y="0"/>
            <a:chExt cx="700659" cy="694267"/>
          </a:xfrm>
        </p:grpSpPr>
        <p:grpSp>
          <p:nvGrpSpPr>
            <p:cNvPr name="Group 3" id="3"/>
            <p:cNvGrpSpPr/>
            <p:nvPr/>
          </p:nvGrpSpPr>
          <p:grpSpPr>
            <a:xfrm rot="0">
              <a:off x="0" y="0"/>
              <a:ext cx="700659" cy="694267"/>
              <a:chOff x="0" y="0"/>
              <a:chExt cx="138402" cy="137139"/>
            </a:xfrm>
          </p:grpSpPr>
          <p:sp>
            <p:nvSpPr>
              <p:cNvPr name="Freeform 4" id="4"/>
              <p:cNvSpPr/>
              <p:nvPr/>
            </p:nvSpPr>
            <p:spPr>
              <a:xfrm flipH="false" flipV="false" rot="0">
                <a:off x="0" y="0"/>
                <a:ext cx="138402" cy="137139"/>
              </a:xfrm>
              <a:custGeom>
                <a:avLst/>
                <a:gdLst/>
                <a:ahLst/>
                <a:cxnLst/>
                <a:rect r="r" b="b" t="t" l="l"/>
                <a:pathLst>
                  <a:path h="137139" w="138402">
                    <a:moveTo>
                      <a:pt x="0" y="0"/>
                    </a:moveTo>
                    <a:lnTo>
                      <a:pt x="138402" y="0"/>
                    </a:lnTo>
                    <a:lnTo>
                      <a:pt x="138402" y="137139"/>
                    </a:lnTo>
                    <a:lnTo>
                      <a:pt x="0" y="137139"/>
                    </a:lnTo>
                    <a:close/>
                  </a:path>
                </a:pathLst>
              </a:custGeom>
              <a:solidFill>
                <a:srgbClr val="152540"/>
              </a:solidFill>
            </p:spPr>
          </p:sp>
          <p:sp>
            <p:nvSpPr>
              <p:cNvPr name="TextBox 5" id="5"/>
              <p:cNvSpPr txBox="true"/>
              <p:nvPr/>
            </p:nvSpPr>
            <p:spPr>
              <a:xfrm>
                <a:off x="0" y="-47625"/>
                <a:ext cx="138402" cy="184764"/>
              </a:xfrm>
              <a:prstGeom prst="rect">
                <a:avLst/>
              </a:prstGeom>
            </p:spPr>
            <p:txBody>
              <a:bodyPr anchor="ctr" rtlCol="false" tIns="50800" lIns="50800" bIns="50800" rIns="50800"/>
              <a:lstStyle/>
              <a:p>
                <a:pPr algn="ctr">
                  <a:lnSpc>
                    <a:spcPts val="3374"/>
                  </a:lnSpc>
                </a:pPr>
              </a:p>
            </p:txBody>
          </p:sp>
        </p:grpSp>
        <p:sp>
          <p:nvSpPr>
            <p:cNvPr name="TextBox 6" id="6"/>
            <p:cNvSpPr txBox="true"/>
            <p:nvPr/>
          </p:nvSpPr>
          <p:spPr>
            <a:xfrm rot="0">
              <a:off x="0" y="40217"/>
              <a:ext cx="700659" cy="556683"/>
            </a:xfrm>
            <a:prstGeom prst="rect">
              <a:avLst/>
            </a:prstGeom>
          </p:spPr>
          <p:txBody>
            <a:bodyPr anchor="t" rtlCol="false" tIns="0" lIns="0" bIns="0" rIns="0">
              <a:spAutoFit/>
            </a:bodyPr>
            <a:lstStyle/>
            <a:p>
              <a:pPr algn="ctr">
                <a:lnSpc>
                  <a:spcPts val="3500"/>
                </a:lnSpc>
              </a:pPr>
              <a:r>
                <a:rPr lang="en-US" b="true" sz="2500">
                  <a:solidFill>
                    <a:srgbClr val="EDE8E4"/>
                  </a:solidFill>
                  <a:latin typeface="Glacial Indifference Bold"/>
                  <a:ea typeface="Glacial Indifference Bold"/>
                  <a:cs typeface="Glacial Indifference Bold"/>
                  <a:sym typeface="Glacial Indifference Bold"/>
                </a:rPr>
                <a:t>13</a:t>
              </a:r>
            </a:p>
          </p:txBody>
        </p:sp>
      </p:grpSp>
      <p:sp>
        <p:nvSpPr>
          <p:cNvPr name="TextBox 7" id="7"/>
          <p:cNvSpPr txBox="true"/>
          <p:nvPr/>
        </p:nvSpPr>
        <p:spPr>
          <a:xfrm rot="0">
            <a:off x="1747169" y="4337049"/>
            <a:ext cx="14793661" cy="1450978"/>
          </a:xfrm>
          <a:prstGeom prst="rect">
            <a:avLst/>
          </a:prstGeom>
        </p:spPr>
        <p:txBody>
          <a:bodyPr anchor="t" rtlCol="false" tIns="0" lIns="0" bIns="0" rIns="0">
            <a:spAutoFit/>
          </a:bodyPr>
          <a:lstStyle/>
          <a:p>
            <a:pPr algn="ctr">
              <a:lnSpc>
                <a:spcPts val="11899"/>
              </a:lnSpc>
            </a:pPr>
            <a:r>
              <a:rPr lang="en-US" b="true" sz="8499">
                <a:solidFill>
                  <a:srgbClr val="000000"/>
                </a:solidFill>
                <a:latin typeface="Glacial Indifference Bold"/>
                <a:ea typeface="Glacial Indifference Bold"/>
                <a:cs typeface="Glacial Indifference Bold"/>
                <a:sym typeface="Glacial Indifference Bold"/>
              </a:rPr>
              <a:t>RESULTADOS FINALES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59300" y="9258300"/>
            <a:ext cx="525494" cy="520700"/>
            <a:chOff x="0" y="0"/>
            <a:chExt cx="700659" cy="694267"/>
          </a:xfrm>
        </p:grpSpPr>
        <p:grpSp>
          <p:nvGrpSpPr>
            <p:cNvPr name="Group 3" id="3"/>
            <p:cNvGrpSpPr/>
            <p:nvPr/>
          </p:nvGrpSpPr>
          <p:grpSpPr>
            <a:xfrm rot="0">
              <a:off x="0" y="0"/>
              <a:ext cx="700659" cy="694267"/>
              <a:chOff x="0" y="0"/>
              <a:chExt cx="138402" cy="137139"/>
            </a:xfrm>
          </p:grpSpPr>
          <p:sp>
            <p:nvSpPr>
              <p:cNvPr name="Freeform 4" id="4"/>
              <p:cNvSpPr/>
              <p:nvPr/>
            </p:nvSpPr>
            <p:spPr>
              <a:xfrm flipH="false" flipV="false" rot="0">
                <a:off x="0" y="0"/>
                <a:ext cx="138402" cy="137139"/>
              </a:xfrm>
              <a:custGeom>
                <a:avLst/>
                <a:gdLst/>
                <a:ahLst/>
                <a:cxnLst/>
                <a:rect r="r" b="b" t="t" l="l"/>
                <a:pathLst>
                  <a:path h="137139" w="138402">
                    <a:moveTo>
                      <a:pt x="0" y="0"/>
                    </a:moveTo>
                    <a:lnTo>
                      <a:pt x="138402" y="0"/>
                    </a:lnTo>
                    <a:lnTo>
                      <a:pt x="138402" y="137139"/>
                    </a:lnTo>
                    <a:lnTo>
                      <a:pt x="0" y="137139"/>
                    </a:lnTo>
                    <a:close/>
                  </a:path>
                </a:pathLst>
              </a:custGeom>
              <a:solidFill>
                <a:srgbClr val="152540"/>
              </a:solidFill>
            </p:spPr>
          </p:sp>
          <p:sp>
            <p:nvSpPr>
              <p:cNvPr name="TextBox 5" id="5"/>
              <p:cNvSpPr txBox="true"/>
              <p:nvPr/>
            </p:nvSpPr>
            <p:spPr>
              <a:xfrm>
                <a:off x="0" y="-47625"/>
                <a:ext cx="138402" cy="184764"/>
              </a:xfrm>
              <a:prstGeom prst="rect">
                <a:avLst/>
              </a:prstGeom>
            </p:spPr>
            <p:txBody>
              <a:bodyPr anchor="ctr" rtlCol="false" tIns="50800" lIns="50800" bIns="50800" rIns="50800"/>
              <a:lstStyle/>
              <a:p>
                <a:pPr algn="ctr">
                  <a:lnSpc>
                    <a:spcPts val="3374"/>
                  </a:lnSpc>
                </a:pPr>
              </a:p>
            </p:txBody>
          </p:sp>
        </p:grpSp>
        <p:sp>
          <p:nvSpPr>
            <p:cNvPr name="TextBox 6" id="6"/>
            <p:cNvSpPr txBox="true"/>
            <p:nvPr/>
          </p:nvSpPr>
          <p:spPr>
            <a:xfrm rot="0">
              <a:off x="0" y="40217"/>
              <a:ext cx="700659" cy="556683"/>
            </a:xfrm>
            <a:prstGeom prst="rect">
              <a:avLst/>
            </a:prstGeom>
          </p:spPr>
          <p:txBody>
            <a:bodyPr anchor="t" rtlCol="false" tIns="0" lIns="0" bIns="0" rIns="0">
              <a:spAutoFit/>
            </a:bodyPr>
            <a:lstStyle/>
            <a:p>
              <a:pPr algn="ctr">
                <a:lnSpc>
                  <a:spcPts val="3500"/>
                </a:lnSpc>
              </a:pPr>
              <a:r>
                <a:rPr lang="en-US" b="true" sz="2500">
                  <a:solidFill>
                    <a:srgbClr val="EDE8E4"/>
                  </a:solidFill>
                  <a:latin typeface="Glacial Indifference Bold"/>
                  <a:ea typeface="Glacial Indifference Bold"/>
                  <a:cs typeface="Glacial Indifference Bold"/>
                  <a:sym typeface="Glacial Indifference Bold"/>
                </a:rPr>
                <a:t>14</a:t>
              </a:r>
            </a:p>
          </p:txBody>
        </p:sp>
      </p:grpSp>
      <p:sp>
        <p:nvSpPr>
          <p:cNvPr name="Freeform 7" id="7"/>
          <p:cNvSpPr/>
          <p:nvPr/>
        </p:nvSpPr>
        <p:spPr>
          <a:xfrm flipH="false" flipV="false" rot="0">
            <a:off x="2155267" y="1916676"/>
            <a:ext cx="13977465" cy="7862324"/>
          </a:xfrm>
          <a:custGeom>
            <a:avLst/>
            <a:gdLst/>
            <a:ahLst/>
            <a:cxnLst/>
            <a:rect r="r" b="b" t="t" l="l"/>
            <a:pathLst>
              <a:path h="7862324" w="13977465">
                <a:moveTo>
                  <a:pt x="0" y="0"/>
                </a:moveTo>
                <a:lnTo>
                  <a:pt x="13977466" y="0"/>
                </a:lnTo>
                <a:lnTo>
                  <a:pt x="13977466" y="7862324"/>
                </a:lnTo>
                <a:lnTo>
                  <a:pt x="0" y="7862324"/>
                </a:lnTo>
                <a:lnTo>
                  <a:pt x="0" y="0"/>
                </a:lnTo>
                <a:close/>
              </a:path>
            </a:pathLst>
          </a:custGeom>
          <a:blipFill>
            <a:blip r:embed="rId2"/>
            <a:stretch>
              <a:fillRect l="0" t="0" r="0" b="0"/>
            </a:stretch>
          </a:blipFill>
        </p:spPr>
      </p:sp>
      <p:sp>
        <p:nvSpPr>
          <p:cNvPr name="TextBox 8" id="8"/>
          <p:cNvSpPr txBox="true"/>
          <p:nvPr/>
        </p:nvSpPr>
        <p:spPr>
          <a:xfrm rot="0">
            <a:off x="1028700" y="589280"/>
            <a:ext cx="16230600" cy="877570"/>
          </a:xfrm>
          <a:prstGeom prst="rect">
            <a:avLst/>
          </a:prstGeom>
        </p:spPr>
        <p:txBody>
          <a:bodyPr anchor="t" rtlCol="false" tIns="0" lIns="0" bIns="0" rIns="0">
            <a:spAutoFit/>
          </a:bodyPr>
          <a:lstStyle/>
          <a:p>
            <a:pPr algn="just">
              <a:lnSpc>
                <a:spcPts val="3500"/>
              </a:lnSpc>
            </a:pPr>
            <a:r>
              <a:rPr lang="en-US" sz="2800">
                <a:solidFill>
                  <a:srgbClr val="000000"/>
                </a:solidFill>
                <a:latin typeface="Glacial Indifference"/>
                <a:ea typeface="Glacial Indifference"/>
                <a:cs typeface="Glacial Indifference"/>
                <a:sym typeface="Glacial Indifference"/>
              </a:rPr>
              <a:t>Habiendo hecho todo lo anterior, regrese al catalogo de productos y en el perfil del usuario seleccione la opción</a:t>
            </a:r>
            <a:r>
              <a:rPr lang="en-US" b="true" sz="2800">
                <a:solidFill>
                  <a:srgbClr val="000000"/>
                </a:solidFill>
                <a:latin typeface="Glacial Indifference Bold"/>
                <a:ea typeface="Glacial Indifference Bold"/>
                <a:cs typeface="Glacial Indifference Bold"/>
                <a:sym typeface="Glacial Indifference Bold"/>
              </a:rPr>
              <a:t> “Mis pedidos”.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59300" y="9258300"/>
            <a:ext cx="525494" cy="520700"/>
            <a:chOff x="0" y="0"/>
            <a:chExt cx="700659" cy="694267"/>
          </a:xfrm>
        </p:grpSpPr>
        <p:grpSp>
          <p:nvGrpSpPr>
            <p:cNvPr name="Group 3" id="3"/>
            <p:cNvGrpSpPr/>
            <p:nvPr/>
          </p:nvGrpSpPr>
          <p:grpSpPr>
            <a:xfrm rot="0">
              <a:off x="0" y="0"/>
              <a:ext cx="700659" cy="694267"/>
              <a:chOff x="0" y="0"/>
              <a:chExt cx="138402" cy="137139"/>
            </a:xfrm>
          </p:grpSpPr>
          <p:sp>
            <p:nvSpPr>
              <p:cNvPr name="Freeform 4" id="4"/>
              <p:cNvSpPr/>
              <p:nvPr/>
            </p:nvSpPr>
            <p:spPr>
              <a:xfrm flipH="false" flipV="false" rot="0">
                <a:off x="0" y="0"/>
                <a:ext cx="138402" cy="137139"/>
              </a:xfrm>
              <a:custGeom>
                <a:avLst/>
                <a:gdLst/>
                <a:ahLst/>
                <a:cxnLst/>
                <a:rect r="r" b="b" t="t" l="l"/>
                <a:pathLst>
                  <a:path h="137139" w="138402">
                    <a:moveTo>
                      <a:pt x="0" y="0"/>
                    </a:moveTo>
                    <a:lnTo>
                      <a:pt x="138402" y="0"/>
                    </a:lnTo>
                    <a:lnTo>
                      <a:pt x="138402" y="137139"/>
                    </a:lnTo>
                    <a:lnTo>
                      <a:pt x="0" y="137139"/>
                    </a:lnTo>
                    <a:close/>
                  </a:path>
                </a:pathLst>
              </a:custGeom>
              <a:solidFill>
                <a:srgbClr val="152540"/>
              </a:solidFill>
            </p:spPr>
          </p:sp>
          <p:sp>
            <p:nvSpPr>
              <p:cNvPr name="TextBox 5" id="5"/>
              <p:cNvSpPr txBox="true"/>
              <p:nvPr/>
            </p:nvSpPr>
            <p:spPr>
              <a:xfrm>
                <a:off x="0" y="-47625"/>
                <a:ext cx="138402" cy="184764"/>
              </a:xfrm>
              <a:prstGeom prst="rect">
                <a:avLst/>
              </a:prstGeom>
            </p:spPr>
            <p:txBody>
              <a:bodyPr anchor="ctr" rtlCol="false" tIns="50800" lIns="50800" bIns="50800" rIns="50800"/>
              <a:lstStyle/>
              <a:p>
                <a:pPr algn="ctr">
                  <a:lnSpc>
                    <a:spcPts val="3374"/>
                  </a:lnSpc>
                </a:pPr>
              </a:p>
            </p:txBody>
          </p:sp>
        </p:grpSp>
        <p:sp>
          <p:nvSpPr>
            <p:cNvPr name="TextBox 6" id="6"/>
            <p:cNvSpPr txBox="true"/>
            <p:nvPr/>
          </p:nvSpPr>
          <p:spPr>
            <a:xfrm rot="0">
              <a:off x="0" y="40217"/>
              <a:ext cx="700659" cy="556683"/>
            </a:xfrm>
            <a:prstGeom prst="rect">
              <a:avLst/>
            </a:prstGeom>
          </p:spPr>
          <p:txBody>
            <a:bodyPr anchor="t" rtlCol="false" tIns="0" lIns="0" bIns="0" rIns="0">
              <a:spAutoFit/>
            </a:bodyPr>
            <a:lstStyle/>
            <a:p>
              <a:pPr algn="ctr">
                <a:lnSpc>
                  <a:spcPts val="3500"/>
                </a:lnSpc>
              </a:pPr>
              <a:r>
                <a:rPr lang="en-US" b="true" sz="2500">
                  <a:solidFill>
                    <a:srgbClr val="EDE8E4"/>
                  </a:solidFill>
                  <a:latin typeface="Glacial Indifference Bold"/>
                  <a:ea typeface="Glacial Indifference Bold"/>
                  <a:cs typeface="Glacial Indifference Bold"/>
                  <a:sym typeface="Glacial Indifference Bold"/>
                </a:rPr>
                <a:t>15</a:t>
              </a:r>
            </a:p>
          </p:txBody>
        </p:sp>
      </p:grpSp>
      <p:sp>
        <p:nvSpPr>
          <p:cNvPr name="Freeform 7" id="7"/>
          <p:cNvSpPr/>
          <p:nvPr/>
        </p:nvSpPr>
        <p:spPr>
          <a:xfrm flipH="false" flipV="false" rot="0">
            <a:off x="2480150" y="2282169"/>
            <a:ext cx="13327700" cy="7496831"/>
          </a:xfrm>
          <a:custGeom>
            <a:avLst/>
            <a:gdLst/>
            <a:ahLst/>
            <a:cxnLst/>
            <a:rect r="r" b="b" t="t" l="l"/>
            <a:pathLst>
              <a:path h="7496831" w="13327700">
                <a:moveTo>
                  <a:pt x="0" y="0"/>
                </a:moveTo>
                <a:lnTo>
                  <a:pt x="13327700" y="0"/>
                </a:lnTo>
                <a:lnTo>
                  <a:pt x="13327700" y="7496831"/>
                </a:lnTo>
                <a:lnTo>
                  <a:pt x="0" y="7496831"/>
                </a:lnTo>
                <a:lnTo>
                  <a:pt x="0" y="0"/>
                </a:lnTo>
                <a:close/>
              </a:path>
            </a:pathLst>
          </a:custGeom>
          <a:blipFill>
            <a:blip r:embed="rId2"/>
            <a:stretch>
              <a:fillRect l="0" t="0" r="0" b="0"/>
            </a:stretch>
          </a:blipFill>
        </p:spPr>
      </p:sp>
      <p:sp>
        <p:nvSpPr>
          <p:cNvPr name="TextBox 8" id="8"/>
          <p:cNvSpPr txBox="true"/>
          <p:nvPr/>
        </p:nvSpPr>
        <p:spPr>
          <a:xfrm rot="0">
            <a:off x="1028700" y="589280"/>
            <a:ext cx="16230600" cy="1315720"/>
          </a:xfrm>
          <a:prstGeom prst="rect">
            <a:avLst/>
          </a:prstGeom>
        </p:spPr>
        <p:txBody>
          <a:bodyPr anchor="t" rtlCol="false" tIns="0" lIns="0" bIns="0" rIns="0">
            <a:spAutoFit/>
          </a:bodyPr>
          <a:lstStyle/>
          <a:p>
            <a:pPr algn="just">
              <a:lnSpc>
                <a:spcPts val="3500"/>
              </a:lnSpc>
            </a:pPr>
            <a:r>
              <a:rPr lang="en-US" sz="2800">
                <a:solidFill>
                  <a:srgbClr val="000000"/>
                </a:solidFill>
                <a:latin typeface="Glacial Indifference"/>
                <a:ea typeface="Glacial Indifference"/>
                <a:cs typeface="Glacial Indifference"/>
                <a:sym typeface="Glacial Indifference"/>
              </a:rPr>
              <a:t>Hecho lo anterior, pude comprobar que la compra del producto se realizó correctamente ya que en </a:t>
            </a:r>
            <a:r>
              <a:rPr lang="en-US" b="true" sz="2800">
                <a:solidFill>
                  <a:srgbClr val="000000"/>
                </a:solidFill>
                <a:latin typeface="Glacial Indifference Bold"/>
                <a:ea typeface="Glacial Indifference Bold"/>
                <a:cs typeface="Glacial Indifference Bold"/>
                <a:sym typeface="Glacial Indifference Bold"/>
              </a:rPr>
              <a:t>“Mis pedidos” </a:t>
            </a:r>
            <a:r>
              <a:rPr lang="en-US" sz="2800">
                <a:solidFill>
                  <a:srgbClr val="000000"/>
                </a:solidFill>
                <a:latin typeface="Glacial Indifference"/>
                <a:ea typeface="Glacial Indifference"/>
                <a:cs typeface="Glacial Indifference"/>
                <a:sym typeface="Glacial Indifference"/>
              </a:rPr>
              <a:t>me aparecieron los productos comprados, en este caso el juego de sillones. Esto me permitió comprobar que el carrito de compras y el checkout se implementó de forma correcta.</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59300" y="9258300"/>
            <a:ext cx="525494" cy="520700"/>
            <a:chOff x="0" y="0"/>
            <a:chExt cx="700659" cy="694267"/>
          </a:xfrm>
        </p:grpSpPr>
        <p:grpSp>
          <p:nvGrpSpPr>
            <p:cNvPr name="Group 3" id="3"/>
            <p:cNvGrpSpPr/>
            <p:nvPr/>
          </p:nvGrpSpPr>
          <p:grpSpPr>
            <a:xfrm rot="0">
              <a:off x="0" y="0"/>
              <a:ext cx="700659" cy="694267"/>
              <a:chOff x="0" y="0"/>
              <a:chExt cx="138402" cy="137139"/>
            </a:xfrm>
          </p:grpSpPr>
          <p:sp>
            <p:nvSpPr>
              <p:cNvPr name="Freeform 4" id="4"/>
              <p:cNvSpPr/>
              <p:nvPr/>
            </p:nvSpPr>
            <p:spPr>
              <a:xfrm flipH="false" flipV="false" rot="0">
                <a:off x="0" y="0"/>
                <a:ext cx="138402" cy="137139"/>
              </a:xfrm>
              <a:custGeom>
                <a:avLst/>
                <a:gdLst/>
                <a:ahLst/>
                <a:cxnLst/>
                <a:rect r="r" b="b" t="t" l="l"/>
                <a:pathLst>
                  <a:path h="137139" w="138402">
                    <a:moveTo>
                      <a:pt x="0" y="0"/>
                    </a:moveTo>
                    <a:lnTo>
                      <a:pt x="138402" y="0"/>
                    </a:lnTo>
                    <a:lnTo>
                      <a:pt x="138402" y="137139"/>
                    </a:lnTo>
                    <a:lnTo>
                      <a:pt x="0" y="137139"/>
                    </a:lnTo>
                    <a:close/>
                  </a:path>
                </a:pathLst>
              </a:custGeom>
              <a:solidFill>
                <a:srgbClr val="152540"/>
              </a:solidFill>
            </p:spPr>
          </p:sp>
          <p:sp>
            <p:nvSpPr>
              <p:cNvPr name="TextBox 5" id="5"/>
              <p:cNvSpPr txBox="true"/>
              <p:nvPr/>
            </p:nvSpPr>
            <p:spPr>
              <a:xfrm>
                <a:off x="0" y="-47625"/>
                <a:ext cx="138402" cy="184764"/>
              </a:xfrm>
              <a:prstGeom prst="rect">
                <a:avLst/>
              </a:prstGeom>
            </p:spPr>
            <p:txBody>
              <a:bodyPr anchor="ctr" rtlCol="false" tIns="50800" lIns="50800" bIns="50800" rIns="50800"/>
              <a:lstStyle/>
              <a:p>
                <a:pPr algn="ctr">
                  <a:lnSpc>
                    <a:spcPts val="3374"/>
                  </a:lnSpc>
                </a:pPr>
              </a:p>
            </p:txBody>
          </p:sp>
        </p:grpSp>
        <p:sp>
          <p:nvSpPr>
            <p:cNvPr name="TextBox 6" id="6"/>
            <p:cNvSpPr txBox="true"/>
            <p:nvPr/>
          </p:nvSpPr>
          <p:spPr>
            <a:xfrm rot="0">
              <a:off x="0" y="40217"/>
              <a:ext cx="700659" cy="556683"/>
            </a:xfrm>
            <a:prstGeom prst="rect">
              <a:avLst/>
            </a:prstGeom>
          </p:spPr>
          <p:txBody>
            <a:bodyPr anchor="t" rtlCol="false" tIns="0" lIns="0" bIns="0" rIns="0">
              <a:spAutoFit/>
            </a:bodyPr>
            <a:lstStyle/>
            <a:p>
              <a:pPr algn="ctr">
                <a:lnSpc>
                  <a:spcPts val="3500"/>
                </a:lnSpc>
              </a:pPr>
              <a:r>
                <a:rPr lang="en-US" b="true" sz="2500">
                  <a:solidFill>
                    <a:srgbClr val="EDE8E4"/>
                  </a:solidFill>
                  <a:latin typeface="Glacial Indifference Bold"/>
                  <a:ea typeface="Glacial Indifference Bold"/>
                  <a:cs typeface="Glacial Indifference Bold"/>
                  <a:sym typeface="Glacial Indifference Bold"/>
                </a:rPr>
                <a:t>16</a:t>
              </a:r>
            </a:p>
          </p:txBody>
        </p:sp>
      </p:grpSp>
      <p:sp>
        <p:nvSpPr>
          <p:cNvPr name="Freeform 7" id="7"/>
          <p:cNvSpPr/>
          <p:nvPr/>
        </p:nvSpPr>
        <p:spPr>
          <a:xfrm flipH="false" flipV="false" rot="0">
            <a:off x="2144109" y="1904123"/>
            <a:ext cx="13999782" cy="7874877"/>
          </a:xfrm>
          <a:custGeom>
            <a:avLst/>
            <a:gdLst/>
            <a:ahLst/>
            <a:cxnLst/>
            <a:rect r="r" b="b" t="t" l="l"/>
            <a:pathLst>
              <a:path h="7874877" w="13999782">
                <a:moveTo>
                  <a:pt x="0" y="0"/>
                </a:moveTo>
                <a:lnTo>
                  <a:pt x="13999782" y="0"/>
                </a:lnTo>
                <a:lnTo>
                  <a:pt x="13999782" y="7874877"/>
                </a:lnTo>
                <a:lnTo>
                  <a:pt x="0" y="7874877"/>
                </a:lnTo>
                <a:lnTo>
                  <a:pt x="0" y="0"/>
                </a:lnTo>
                <a:close/>
              </a:path>
            </a:pathLst>
          </a:custGeom>
          <a:blipFill>
            <a:blip r:embed="rId2"/>
            <a:stretch>
              <a:fillRect l="0" t="0" r="0" b="0"/>
            </a:stretch>
          </a:blipFill>
        </p:spPr>
      </p:sp>
      <p:sp>
        <p:nvSpPr>
          <p:cNvPr name="TextBox 8" id="8"/>
          <p:cNvSpPr txBox="true"/>
          <p:nvPr/>
        </p:nvSpPr>
        <p:spPr>
          <a:xfrm rot="0">
            <a:off x="1028700" y="589280"/>
            <a:ext cx="16230600" cy="877570"/>
          </a:xfrm>
          <a:prstGeom prst="rect">
            <a:avLst/>
          </a:prstGeom>
        </p:spPr>
        <p:txBody>
          <a:bodyPr anchor="t" rtlCol="false" tIns="0" lIns="0" bIns="0" rIns="0">
            <a:spAutoFit/>
          </a:bodyPr>
          <a:lstStyle/>
          <a:p>
            <a:pPr algn="just">
              <a:lnSpc>
                <a:spcPts val="3500"/>
              </a:lnSpc>
            </a:pPr>
            <a:r>
              <a:rPr lang="en-US" sz="2800">
                <a:solidFill>
                  <a:srgbClr val="000000"/>
                </a:solidFill>
                <a:latin typeface="Glacial Indifference"/>
                <a:ea typeface="Glacial Indifference"/>
                <a:cs typeface="Glacial Indifference"/>
                <a:sym typeface="Glacial Indifference"/>
              </a:rPr>
              <a:t>Después de verificar que el pedido se realizó correctamente, accedí a Supabase y en la tabla de  </a:t>
            </a:r>
            <a:r>
              <a:rPr lang="en-US" b="true" sz="2800">
                <a:solidFill>
                  <a:srgbClr val="000000"/>
                </a:solidFill>
                <a:latin typeface="Glacial Indifference Bold"/>
                <a:ea typeface="Glacial Indifference Bold"/>
                <a:cs typeface="Glacial Indifference Bold"/>
                <a:sym typeface="Glacial Indifference Bold"/>
              </a:rPr>
              <a:t>“Pedidos”</a:t>
            </a:r>
            <a:r>
              <a:rPr lang="en-US" sz="2800">
                <a:solidFill>
                  <a:srgbClr val="000000"/>
                </a:solidFill>
                <a:latin typeface="Glacial Indifference"/>
                <a:ea typeface="Glacial Indifference"/>
                <a:cs typeface="Glacial Indifference"/>
                <a:sym typeface="Glacial Indifference"/>
              </a:rPr>
              <a:t> pude comprobar que el pedido realizado se guardó correctamente. </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59300" y="9258300"/>
            <a:ext cx="525494" cy="520700"/>
            <a:chOff x="0" y="0"/>
            <a:chExt cx="700659" cy="694267"/>
          </a:xfrm>
        </p:grpSpPr>
        <p:grpSp>
          <p:nvGrpSpPr>
            <p:cNvPr name="Group 3" id="3"/>
            <p:cNvGrpSpPr/>
            <p:nvPr/>
          </p:nvGrpSpPr>
          <p:grpSpPr>
            <a:xfrm rot="0">
              <a:off x="0" y="0"/>
              <a:ext cx="700659" cy="694267"/>
              <a:chOff x="0" y="0"/>
              <a:chExt cx="138402" cy="137139"/>
            </a:xfrm>
          </p:grpSpPr>
          <p:sp>
            <p:nvSpPr>
              <p:cNvPr name="Freeform 4" id="4"/>
              <p:cNvSpPr/>
              <p:nvPr/>
            </p:nvSpPr>
            <p:spPr>
              <a:xfrm flipH="false" flipV="false" rot="0">
                <a:off x="0" y="0"/>
                <a:ext cx="138402" cy="137139"/>
              </a:xfrm>
              <a:custGeom>
                <a:avLst/>
                <a:gdLst/>
                <a:ahLst/>
                <a:cxnLst/>
                <a:rect r="r" b="b" t="t" l="l"/>
                <a:pathLst>
                  <a:path h="137139" w="138402">
                    <a:moveTo>
                      <a:pt x="0" y="0"/>
                    </a:moveTo>
                    <a:lnTo>
                      <a:pt x="138402" y="0"/>
                    </a:lnTo>
                    <a:lnTo>
                      <a:pt x="138402" y="137139"/>
                    </a:lnTo>
                    <a:lnTo>
                      <a:pt x="0" y="137139"/>
                    </a:lnTo>
                    <a:close/>
                  </a:path>
                </a:pathLst>
              </a:custGeom>
              <a:solidFill>
                <a:srgbClr val="152540"/>
              </a:solidFill>
            </p:spPr>
          </p:sp>
          <p:sp>
            <p:nvSpPr>
              <p:cNvPr name="TextBox 5" id="5"/>
              <p:cNvSpPr txBox="true"/>
              <p:nvPr/>
            </p:nvSpPr>
            <p:spPr>
              <a:xfrm>
                <a:off x="0" y="-47625"/>
                <a:ext cx="138402" cy="184764"/>
              </a:xfrm>
              <a:prstGeom prst="rect">
                <a:avLst/>
              </a:prstGeom>
            </p:spPr>
            <p:txBody>
              <a:bodyPr anchor="ctr" rtlCol="false" tIns="50800" lIns="50800" bIns="50800" rIns="50800"/>
              <a:lstStyle/>
              <a:p>
                <a:pPr algn="ctr">
                  <a:lnSpc>
                    <a:spcPts val="3374"/>
                  </a:lnSpc>
                </a:pPr>
              </a:p>
            </p:txBody>
          </p:sp>
        </p:grpSp>
        <p:sp>
          <p:nvSpPr>
            <p:cNvPr name="TextBox 6" id="6"/>
            <p:cNvSpPr txBox="true"/>
            <p:nvPr/>
          </p:nvSpPr>
          <p:spPr>
            <a:xfrm rot="0">
              <a:off x="0" y="40217"/>
              <a:ext cx="700659" cy="556683"/>
            </a:xfrm>
            <a:prstGeom prst="rect">
              <a:avLst/>
            </a:prstGeom>
          </p:spPr>
          <p:txBody>
            <a:bodyPr anchor="t" rtlCol="false" tIns="0" lIns="0" bIns="0" rIns="0">
              <a:spAutoFit/>
            </a:bodyPr>
            <a:lstStyle/>
            <a:p>
              <a:pPr algn="ctr">
                <a:lnSpc>
                  <a:spcPts val="3500"/>
                </a:lnSpc>
              </a:pPr>
              <a:r>
                <a:rPr lang="en-US" b="true" sz="2500">
                  <a:solidFill>
                    <a:srgbClr val="EDE8E4"/>
                  </a:solidFill>
                  <a:latin typeface="Glacial Indifference Bold"/>
                  <a:ea typeface="Glacial Indifference Bold"/>
                  <a:cs typeface="Glacial Indifference Bold"/>
                  <a:sym typeface="Glacial Indifference Bold"/>
                </a:rPr>
                <a:t>17</a:t>
              </a:r>
            </a:p>
          </p:txBody>
        </p:sp>
      </p:grpSp>
      <p:sp>
        <p:nvSpPr>
          <p:cNvPr name="Freeform 7" id="7"/>
          <p:cNvSpPr/>
          <p:nvPr/>
        </p:nvSpPr>
        <p:spPr>
          <a:xfrm flipH="false" flipV="false" rot="0">
            <a:off x="1828800" y="1028700"/>
            <a:ext cx="14630400" cy="8229600"/>
          </a:xfrm>
          <a:custGeom>
            <a:avLst/>
            <a:gdLst/>
            <a:ahLst/>
            <a:cxnLst/>
            <a:rect r="r" b="b" t="t" l="l"/>
            <a:pathLst>
              <a:path h="8229600" w="14630400">
                <a:moveTo>
                  <a:pt x="0" y="0"/>
                </a:moveTo>
                <a:lnTo>
                  <a:pt x="14630400" y="0"/>
                </a:lnTo>
                <a:lnTo>
                  <a:pt x="14630400" y="8229600"/>
                </a:lnTo>
                <a:lnTo>
                  <a:pt x="0" y="8229600"/>
                </a:lnTo>
                <a:lnTo>
                  <a:pt x="0" y="0"/>
                </a:lnTo>
                <a:close/>
              </a:path>
            </a:pathLst>
          </a:custGeom>
          <a:blipFill>
            <a:blip r:embed="rId2"/>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294502"/>
            <a:ext cx="16230600" cy="3930015"/>
          </a:xfrm>
          <a:prstGeom prst="rect">
            <a:avLst/>
          </a:prstGeom>
        </p:spPr>
        <p:txBody>
          <a:bodyPr anchor="t" rtlCol="false" tIns="0" lIns="0" bIns="0" rIns="0">
            <a:spAutoFit/>
          </a:bodyPr>
          <a:lstStyle/>
          <a:p>
            <a:pPr algn="just">
              <a:lnSpc>
                <a:spcPts val="4499"/>
              </a:lnSpc>
            </a:pPr>
            <a:r>
              <a:rPr lang="en-US" sz="3599">
                <a:solidFill>
                  <a:srgbClr val="000000"/>
                </a:solidFill>
                <a:latin typeface="Glacial Indifference"/>
                <a:ea typeface="Glacial Indifference"/>
                <a:cs typeface="Glacial Indifference"/>
                <a:sym typeface="Glacial Indifference"/>
              </a:rPr>
              <a:t>Puedo concluir que esta actividad fue de gran importancia, ya que mediante las pruebas realizadas se pudo comprobar  que el carrito de compras y el checkout se implementaron correctamente en mi aplicación web “Local Market”. </a:t>
            </a:r>
          </a:p>
          <a:p>
            <a:pPr algn="just">
              <a:lnSpc>
                <a:spcPts val="4499"/>
              </a:lnSpc>
            </a:pPr>
          </a:p>
          <a:p>
            <a:pPr algn="just">
              <a:lnSpc>
                <a:spcPts val="4499"/>
              </a:lnSpc>
            </a:pPr>
            <a:r>
              <a:rPr lang="en-US" sz="3599">
                <a:solidFill>
                  <a:srgbClr val="000000"/>
                </a:solidFill>
                <a:latin typeface="Glacial Indifference"/>
                <a:ea typeface="Glacial Indifference"/>
                <a:cs typeface="Glacial Indifference"/>
                <a:sym typeface="Glacial Indifference"/>
              </a:rPr>
              <a:t>Así mismo, a través de estas pruebas se pudo comprobar que la aplicación ya cumple con su objetivo principal, el cual es permitir la compra y venta de productos locales.</a:t>
            </a:r>
          </a:p>
        </p:txBody>
      </p:sp>
      <p:sp>
        <p:nvSpPr>
          <p:cNvPr name="TextBox 3" id="3"/>
          <p:cNvSpPr txBox="true"/>
          <p:nvPr/>
        </p:nvSpPr>
        <p:spPr>
          <a:xfrm rot="0">
            <a:off x="3981198" y="266699"/>
            <a:ext cx="10325604" cy="762001"/>
          </a:xfrm>
          <a:prstGeom prst="rect">
            <a:avLst/>
          </a:prstGeom>
        </p:spPr>
        <p:txBody>
          <a:bodyPr anchor="t" rtlCol="false" tIns="0" lIns="0" bIns="0" rIns="0">
            <a:spAutoFit/>
          </a:bodyPr>
          <a:lstStyle/>
          <a:p>
            <a:pPr algn="ctr">
              <a:lnSpc>
                <a:spcPts val="6299"/>
              </a:lnSpc>
            </a:pPr>
            <a:r>
              <a:rPr lang="en-US" b="true" sz="4499">
                <a:solidFill>
                  <a:srgbClr val="000000"/>
                </a:solidFill>
                <a:latin typeface="Glacial Indifference Bold"/>
                <a:ea typeface="Glacial Indifference Bold"/>
                <a:cs typeface="Glacial Indifference Bold"/>
                <a:sym typeface="Glacial Indifference Bold"/>
              </a:rPr>
              <a:t>CONCLUSION</a:t>
            </a:r>
          </a:p>
        </p:txBody>
      </p:sp>
      <p:grpSp>
        <p:nvGrpSpPr>
          <p:cNvPr name="Group 4" id="4"/>
          <p:cNvGrpSpPr/>
          <p:nvPr/>
        </p:nvGrpSpPr>
        <p:grpSpPr>
          <a:xfrm rot="0">
            <a:off x="17259300" y="9258300"/>
            <a:ext cx="525494" cy="520700"/>
            <a:chOff x="0" y="0"/>
            <a:chExt cx="700659" cy="694267"/>
          </a:xfrm>
        </p:grpSpPr>
        <p:grpSp>
          <p:nvGrpSpPr>
            <p:cNvPr name="Group 5" id="5"/>
            <p:cNvGrpSpPr/>
            <p:nvPr/>
          </p:nvGrpSpPr>
          <p:grpSpPr>
            <a:xfrm rot="0">
              <a:off x="0" y="0"/>
              <a:ext cx="700659" cy="694267"/>
              <a:chOff x="0" y="0"/>
              <a:chExt cx="138402" cy="137139"/>
            </a:xfrm>
          </p:grpSpPr>
          <p:sp>
            <p:nvSpPr>
              <p:cNvPr name="Freeform 6" id="6"/>
              <p:cNvSpPr/>
              <p:nvPr/>
            </p:nvSpPr>
            <p:spPr>
              <a:xfrm flipH="false" flipV="false" rot="0">
                <a:off x="0" y="0"/>
                <a:ext cx="138402" cy="137139"/>
              </a:xfrm>
              <a:custGeom>
                <a:avLst/>
                <a:gdLst/>
                <a:ahLst/>
                <a:cxnLst/>
                <a:rect r="r" b="b" t="t" l="l"/>
                <a:pathLst>
                  <a:path h="137139" w="138402">
                    <a:moveTo>
                      <a:pt x="0" y="0"/>
                    </a:moveTo>
                    <a:lnTo>
                      <a:pt x="138402" y="0"/>
                    </a:lnTo>
                    <a:lnTo>
                      <a:pt x="138402" y="137139"/>
                    </a:lnTo>
                    <a:lnTo>
                      <a:pt x="0" y="137139"/>
                    </a:lnTo>
                    <a:close/>
                  </a:path>
                </a:pathLst>
              </a:custGeom>
              <a:solidFill>
                <a:srgbClr val="152540"/>
              </a:solidFill>
            </p:spPr>
          </p:sp>
          <p:sp>
            <p:nvSpPr>
              <p:cNvPr name="TextBox 7" id="7"/>
              <p:cNvSpPr txBox="true"/>
              <p:nvPr/>
            </p:nvSpPr>
            <p:spPr>
              <a:xfrm>
                <a:off x="0" y="-47625"/>
                <a:ext cx="138402" cy="184764"/>
              </a:xfrm>
              <a:prstGeom prst="rect">
                <a:avLst/>
              </a:prstGeom>
            </p:spPr>
            <p:txBody>
              <a:bodyPr anchor="ctr" rtlCol="false" tIns="50800" lIns="50800" bIns="50800" rIns="50800"/>
              <a:lstStyle/>
              <a:p>
                <a:pPr algn="ctr">
                  <a:lnSpc>
                    <a:spcPts val="3374"/>
                  </a:lnSpc>
                </a:pPr>
              </a:p>
            </p:txBody>
          </p:sp>
        </p:grpSp>
        <p:sp>
          <p:nvSpPr>
            <p:cNvPr name="TextBox 8" id="8"/>
            <p:cNvSpPr txBox="true"/>
            <p:nvPr/>
          </p:nvSpPr>
          <p:spPr>
            <a:xfrm rot="0">
              <a:off x="0" y="40217"/>
              <a:ext cx="700659" cy="556683"/>
            </a:xfrm>
            <a:prstGeom prst="rect">
              <a:avLst/>
            </a:prstGeom>
          </p:spPr>
          <p:txBody>
            <a:bodyPr anchor="t" rtlCol="false" tIns="0" lIns="0" bIns="0" rIns="0">
              <a:spAutoFit/>
            </a:bodyPr>
            <a:lstStyle/>
            <a:p>
              <a:pPr algn="ctr">
                <a:lnSpc>
                  <a:spcPts val="3500"/>
                </a:lnSpc>
              </a:pPr>
              <a:r>
                <a:rPr lang="en-US" b="true" sz="2500">
                  <a:solidFill>
                    <a:srgbClr val="EDE8E4"/>
                  </a:solidFill>
                  <a:latin typeface="Glacial Indifference Bold"/>
                  <a:ea typeface="Glacial Indifference Bold"/>
                  <a:cs typeface="Glacial Indifference Bold"/>
                  <a:sym typeface="Glacial Indifference Bold"/>
                </a:rPr>
                <a:t>18</a:t>
              </a:r>
            </a:p>
          </p:txBody>
        </p:sp>
      </p:grpSp>
    </p:spTree>
  </p:cSld>
  <p:clrMapOvr>
    <a:masterClrMapping/>
  </p:clrMapOvr>
</p:sld>
</file>

<file path=ppt/slides/slide1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294502"/>
            <a:ext cx="16230600" cy="5238750"/>
          </a:xfrm>
          <a:prstGeom prst="rect">
            <a:avLst/>
          </a:prstGeom>
        </p:spPr>
        <p:txBody>
          <a:bodyPr anchor="t" rtlCol="false" tIns="0" lIns="0" bIns="0" rIns="0">
            <a:spAutoFit/>
          </a:bodyPr>
          <a:lstStyle/>
          <a:p>
            <a:pPr algn="just">
              <a:lnSpc>
                <a:spcPts val="3750"/>
              </a:lnSpc>
            </a:pPr>
            <a:r>
              <a:rPr lang="en-US" sz="3000">
                <a:solidFill>
                  <a:srgbClr val="000000"/>
                </a:solidFill>
                <a:latin typeface="Glacial Indifference"/>
                <a:ea typeface="Glacial Indifference"/>
                <a:cs typeface="Glacial Indifference"/>
                <a:sym typeface="Glacial Indifference"/>
              </a:rPr>
              <a:t>Code, L. [@luigicode1480]. (s/f). Paypal checkout con angular: Introducción [[Object Object]]. Youtube. Recuperado el 15 de junio de 2026, de https://www.youtube.com/watch?v=as_VeVXspPo&amp;list=PL4bT56Uw3S4xtlptHVrl6s-lB7qCTfrc2</a:t>
            </a:r>
          </a:p>
          <a:p>
            <a:pPr algn="just">
              <a:lnSpc>
                <a:spcPts val="3750"/>
              </a:lnSpc>
            </a:pPr>
          </a:p>
          <a:p>
            <a:pPr algn="just">
              <a:lnSpc>
                <a:spcPts val="3750"/>
              </a:lnSpc>
            </a:pPr>
            <a:r>
              <a:rPr lang="en-US" sz="3000">
                <a:solidFill>
                  <a:srgbClr val="000000"/>
                </a:solidFill>
                <a:latin typeface="Glacial Indifference"/>
                <a:ea typeface="Glacial Indifference"/>
                <a:cs typeface="Glacial Indifference"/>
                <a:sym typeface="Glacial Indifference"/>
              </a:rPr>
              <a:t>el Mundo, P. P. [@programacionparaelmundo]. (s/f). Carrito de compras BÁSICO con React | Práctica [[Object Object]]. Youtube. Recuperado el 15 de junio de 2026, de https://www.youtube.com/watch?v=F-3cvd10zHE</a:t>
            </a:r>
          </a:p>
          <a:p>
            <a:pPr algn="just">
              <a:lnSpc>
                <a:spcPts val="3750"/>
              </a:lnSpc>
            </a:pPr>
          </a:p>
          <a:p>
            <a:pPr algn="just">
              <a:lnSpc>
                <a:spcPts val="3750"/>
              </a:lnSpc>
            </a:pPr>
            <a:r>
              <a:rPr lang="en-US" sz="3000">
                <a:solidFill>
                  <a:srgbClr val="000000"/>
                </a:solidFill>
                <a:latin typeface="Glacial Indifference"/>
                <a:ea typeface="Glacial Indifference"/>
                <a:cs typeface="Glacial Indifference"/>
                <a:sym typeface="Glacial Indifference"/>
              </a:rPr>
              <a:t>IsiDev [@isi-dev]. (s/f). Carrito de la compra 100% funcional con Angular Signals [[Object Object]]. Youtube. Recuperado el 15 de junio de 2026, de https://www.youtube.com/watch?v=gMoJdtzN85Q</a:t>
            </a:r>
          </a:p>
        </p:txBody>
      </p:sp>
      <p:sp>
        <p:nvSpPr>
          <p:cNvPr name="TextBox 3" id="3"/>
          <p:cNvSpPr txBox="true"/>
          <p:nvPr/>
        </p:nvSpPr>
        <p:spPr>
          <a:xfrm rot="0">
            <a:off x="3537639" y="266699"/>
            <a:ext cx="11212723" cy="762001"/>
          </a:xfrm>
          <a:prstGeom prst="rect">
            <a:avLst/>
          </a:prstGeom>
        </p:spPr>
        <p:txBody>
          <a:bodyPr anchor="t" rtlCol="false" tIns="0" lIns="0" bIns="0" rIns="0">
            <a:spAutoFit/>
          </a:bodyPr>
          <a:lstStyle/>
          <a:p>
            <a:pPr algn="ctr">
              <a:lnSpc>
                <a:spcPts val="6299"/>
              </a:lnSpc>
            </a:pPr>
            <a:r>
              <a:rPr lang="en-US" b="true" sz="4499" spc="422">
                <a:solidFill>
                  <a:srgbClr val="000000"/>
                </a:solidFill>
                <a:latin typeface="Glacial Indifference Bold"/>
                <a:ea typeface="Glacial Indifference Bold"/>
                <a:cs typeface="Glacial Indifference Bold"/>
                <a:sym typeface="Glacial Indifference Bold"/>
              </a:rPr>
              <a:t>FUENTES DE INFORMACION</a:t>
            </a:r>
          </a:p>
        </p:txBody>
      </p:sp>
      <p:grpSp>
        <p:nvGrpSpPr>
          <p:cNvPr name="Group 4" id="4"/>
          <p:cNvGrpSpPr/>
          <p:nvPr/>
        </p:nvGrpSpPr>
        <p:grpSpPr>
          <a:xfrm rot="0">
            <a:off x="17259300" y="9258300"/>
            <a:ext cx="525494" cy="520700"/>
            <a:chOff x="0" y="0"/>
            <a:chExt cx="700659" cy="694267"/>
          </a:xfrm>
        </p:grpSpPr>
        <p:grpSp>
          <p:nvGrpSpPr>
            <p:cNvPr name="Group 5" id="5"/>
            <p:cNvGrpSpPr/>
            <p:nvPr/>
          </p:nvGrpSpPr>
          <p:grpSpPr>
            <a:xfrm rot="0">
              <a:off x="0" y="0"/>
              <a:ext cx="700659" cy="694267"/>
              <a:chOff x="0" y="0"/>
              <a:chExt cx="138402" cy="137139"/>
            </a:xfrm>
          </p:grpSpPr>
          <p:sp>
            <p:nvSpPr>
              <p:cNvPr name="Freeform 6" id="6"/>
              <p:cNvSpPr/>
              <p:nvPr/>
            </p:nvSpPr>
            <p:spPr>
              <a:xfrm flipH="false" flipV="false" rot="0">
                <a:off x="0" y="0"/>
                <a:ext cx="138402" cy="137139"/>
              </a:xfrm>
              <a:custGeom>
                <a:avLst/>
                <a:gdLst/>
                <a:ahLst/>
                <a:cxnLst/>
                <a:rect r="r" b="b" t="t" l="l"/>
                <a:pathLst>
                  <a:path h="137139" w="138402">
                    <a:moveTo>
                      <a:pt x="0" y="0"/>
                    </a:moveTo>
                    <a:lnTo>
                      <a:pt x="138402" y="0"/>
                    </a:lnTo>
                    <a:lnTo>
                      <a:pt x="138402" y="137139"/>
                    </a:lnTo>
                    <a:lnTo>
                      <a:pt x="0" y="137139"/>
                    </a:lnTo>
                    <a:close/>
                  </a:path>
                </a:pathLst>
              </a:custGeom>
              <a:solidFill>
                <a:srgbClr val="253754"/>
              </a:solidFill>
            </p:spPr>
          </p:sp>
          <p:sp>
            <p:nvSpPr>
              <p:cNvPr name="TextBox 7" id="7"/>
              <p:cNvSpPr txBox="true"/>
              <p:nvPr/>
            </p:nvSpPr>
            <p:spPr>
              <a:xfrm>
                <a:off x="0" y="-47625"/>
                <a:ext cx="138402" cy="184764"/>
              </a:xfrm>
              <a:prstGeom prst="rect">
                <a:avLst/>
              </a:prstGeom>
            </p:spPr>
            <p:txBody>
              <a:bodyPr anchor="ctr" rtlCol="false" tIns="50800" lIns="50800" bIns="50800" rIns="50800"/>
              <a:lstStyle/>
              <a:p>
                <a:pPr algn="ctr">
                  <a:lnSpc>
                    <a:spcPts val="3374"/>
                  </a:lnSpc>
                </a:pPr>
              </a:p>
            </p:txBody>
          </p:sp>
        </p:grpSp>
        <p:sp>
          <p:nvSpPr>
            <p:cNvPr name="TextBox 8" id="8"/>
            <p:cNvSpPr txBox="true"/>
            <p:nvPr/>
          </p:nvSpPr>
          <p:spPr>
            <a:xfrm rot="0">
              <a:off x="0" y="40217"/>
              <a:ext cx="700659" cy="556683"/>
            </a:xfrm>
            <a:prstGeom prst="rect">
              <a:avLst/>
            </a:prstGeom>
          </p:spPr>
          <p:txBody>
            <a:bodyPr anchor="t" rtlCol="false" tIns="0" lIns="0" bIns="0" rIns="0">
              <a:spAutoFit/>
            </a:bodyPr>
            <a:lstStyle/>
            <a:p>
              <a:pPr algn="ctr">
                <a:lnSpc>
                  <a:spcPts val="3500"/>
                </a:lnSpc>
              </a:pPr>
              <a:r>
                <a:rPr lang="en-US" b="true" sz="2500">
                  <a:solidFill>
                    <a:srgbClr val="EDE8E4"/>
                  </a:solidFill>
                  <a:latin typeface="Glacial Indifference Bold"/>
                  <a:ea typeface="Glacial Indifference Bold"/>
                  <a:cs typeface="Glacial Indifference Bold"/>
                  <a:sym typeface="Glacial Indifference Bold"/>
                </a:rPr>
                <a:t>19</a:t>
              </a:r>
            </a:p>
          </p:txBody>
        </p:sp>
      </p:grpSp>
    </p:spTree>
  </p:cSld>
  <p:clrMapOvr>
    <a:masterClrMapping/>
  </p:clrMapOvr>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7249775" y="9258300"/>
            <a:ext cx="525494" cy="520700"/>
            <a:chOff x="0" y="0"/>
            <a:chExt cx="700659" cy="694267"/>
          </a:xfrm>
        </p:grpSpPr>
        <p:grpSp>
          <p:nvGrpSpPr>
            <p:cNvPr name="Group 3" id="3"/>
            <p:cNvGrpSpPr/>
            <p:nvPr/>
          </p:nvGrpSpPr>
          <p:grpSpPr>
            <a:xfrm rot="0">
              <a:off x="0" y="0"/>
              <a:ext cx="700659" cy="694267"/>
              <a:chOff x="0" y="0"/>
              <a:chExt cx="138402" cy="137139"/>
            </a:xfrm>
          </p:grpSpPr>
          <p:sp>
            <p:nvSpPr>
              <p:cNvPr name="Freeform 4" id="4"/>
              <p:cNvSpPr/>
              <p:nvPr/>
            </p:nvSpPr>
            <p:spPr>
              <a:xfrm flipH="false" flipV="false" rot="0">
                <a:off x="0" y="0"/>
                <a:ext cx="138402" cy="137139"/>
              </a:xfrm>
              <a:custGeom>
                <a:avLst/>
                <a:gdLst/>
                <a:ahLst/>
                <a:cxnLst/>
                <a:rect r="r" b="b" t="t" l="l"/>
                <a:pathLst>
                  <a:path h="137139" w="138402">
                    <a:moveTo>
                      <a:pt x="0" y="0"/>
                    </a:moveTo>
                    <a:lnTo>
                      <a:pt x="138402" y="0"/>
                    </a:lnTo>
                    <a:lnTo>
                      <a:pt x="138402" y="137139"/>
                    </a:lnTo>
                    <a:lnTo>
                      <a:pt x="0" y="137139"/>
                    </a:lnTo>
                    <a:close/>
                  </a:path>
                </a:pathLst>
              </a:custGeom>
              <a:solidFill>
                <a:srgbClr val="253754"/>
              </a:solidFill>
            </p:spPr>
          </p:sp>
          <p:sp>
            <p:nvSpPr>
              <p:cNvPr name="TextBox 5" id="5"/>
              <p:cNvSpPr txBox="true"/>
              <p:nvPr/>
            </p:nvSpPr>
            <p:spPr>
              <a:xfrm>
                <a:off x="0" y="-47625"/>
                <a:ext cx="138402" cy="184764"/>
              </a:xfrm>
              <a:prstGeom prst="rect">
                <a:avLst/>
              </a:prstGeom>
            </p:spPr>
            <p:txBody>
              <a:bodyPr anchor="ctr" rtlCol="false" tIns="50800" lIns="50800" bIns="50800" rIns="50800"/>
              <a:lstStyle/>
              <a:p>
                <a:pPr algn="ctr">
                  <a:lnSpc>
                    <a:spcPts val="3374"/>
                  </a:lnSpc>
                </a:pPr>
              </a:p>
            </p:txBody>
          </p:sp>
        </p:grpSp>
        <p:sp>
          <p:nvSpPr>
            <p:cNvPr name="TextBox 6" id="6"/>
            <p:cNvSpPr txBox="true"/>
            <p:nvPr/>
          </p:nvSpPr>
          <p:spPr>
            <a:xfrm rot="0">
              <a:off x="0" y="40217"/>
              <a:ext cx="700659" cy="556683"/>
            </a:xfrm>
            <a:prstGeom prst="rect">
              <a:avLst/>
            </a:prstGeom>
          </p:spPr>
          <p:txBody>
            <a:bodyPr anchor="t" rtlCol="false" tIns="0" lIns="0" bIns="0" rIns="0">
              <a:spAutoFit/>
            </a:bodyPr>
            <a:lstStyle/>
            <a:p>
              <a:pPr algn="ctr">
                <a:lnSpc>
                  <a:spcPts val="3500"/>
                </a:lnSpc>
              </a:pPr>
              <a:r>
                <a:rPr lang="en-US" b="true" sz="2500">
                  <a:solidFill>
                    <a:srgbClr val="EDE8E4"/>
                  </a:solidFill>
                  <a:latin typeface="Glacial Indifference Bold"/>
                  <a:ea typeface="Glacial Indifference Bold"/>
                  <a:cs typeface="Glacial Indifference Bold"/>
                  <a:sym typeface="Glacial Indifference Bold"/>
                </a:rPr>
                <a:t>20</a:t>
              </a:r>
            </a:p>
          </p:txBody>
        </p:sp>
      </p:grpSp>
      <p:sp>
        <p:nvSpPr>
          <p:cNvPr name="TextBox 7" id="7"/>
          <p:cNvSpPr txBox="true"/>
          <p:nvPr/>
        </p:nvSpPr>
        <p:spPr>
          <a:xfrm rot="0">
            <a:off x="636935" y="8239760"/>
            <a:ext cx="17014129" cy="2018030"/>
          </a:xfrm>
          <a:prstGeom prst="rect">
            <a:avLst/>
          </a:prstGeom>
        </p:spPr>
        <p:txBody>
          <a:bodyPr anchor="t" rtlCol="false" tIns="0" lIns="0" bIns="0" rIns="0">
            <a:spAutoFit/>
          </a:bodyPr>
          <a:lstStyle/>
          <a:p>
            <a:pPr algn="ctr">
              <a:lnSpc>
                <a:spcPts val="4000"/>
              </a:lnSpc>
            </a:pPr>
            <a:r>
              <a:rPr lang="en-US" sz="3200">
                <a:solidFill>
                  <a:srgbClr val="000000"/>
                </a:solidFill>
                <a:latin typeface="Glacial Indifference"/>
                <a:ea typeface="Glacial Indifference"/>
                <a:cs typeface="Glacial Indifference"/>
                <a:sym typeface="Glacial Indifference"/>
              </a:rPr>
              <a:t>Anexo link de acceso al código de este programa y a las actividades de la unidad 5 en GitHub:</a:t>
            </a:r>
          </a:p>
          <a:p>
            <a:pPr algn="ctr">
              <a:lnSpc>
                <a:spcPts val="4000"/>
              </a:lnSpc>
            </a:pPr>
          </a:p>
          <a:p>
            <a:pPr algn="ctr">
              <a:lnSpc>
                <a:spcPts val="4000"/>
              </a:lnSpc>
            </a:pPr>
            <a:r>
              <a:rPr lang="en-US" sz="3200">
                <a:solidFill>
                  <a:srgbClr val="000000"/>
                </a:solidFill>
                <a:latin typeface="Glacial Indifference"/>
                <a:ea typeface="Glacial Indifference"/>
                <a:cs typeface="Glacial Indifference"/>
                <a:sym typeface="Glacial Indifference"/>
              </a:rPr>
              <a:t>https://gith</a:t>
            </a:r>
          </a:p>
          <a:p>
            <a:pPr algn="ctr">
              <a:lnSpc>
                <a:spcPts val="4000"/>
              </a:lnSpc>
            </a:pPr>
          </a:p>
        </p:txBody>
      </p:sp>
      <p:sp>
        <p:nvSpPr>
          <p:cNvPr name="TextBox 8" id="8"/>
          <p:cNvSpPr txBox="true"/>
          <p:nvPr/>
        </p:nvSpPr>
        <p:spPr>
          <a:xfrm rot="0">
            <a:off x="3537639" y="266699"/>
            <a:ext cx="11212723" cy="762001"/>
          </a:xfrm>
          <a:prstGeom prst="rect">
            <a:avLst/>
          </a:prstGeom>
        </p:spPr>
        <p:txBody>
          <a:bodyPr anchor="t" rtlCol="false" tIns="0" lIns="0" bIns="0" rIns="0">
            <a:spAutoFit/>
          </a:bodyPr>
          <a:lstStyle/>
          <a:p>
            <a:pPr algn="ctr">
              <a:lnSpc>
                <a:spcPts val="6299"/>
              </a:lnSpc>
            </a:pPr>
            <a:r>
              <a:rPr lang="en-US" b="true" sz="4499" spc="422">
                <a:solidFill>
                  <a:srgbClr val="000000"/>
                </a:solidFill>
                <a:latin typeface="Glacial Indifference Bold"/>
                <a:ea typeface="Glacial Indifference Bold"/>
                <a:cs typeface="Glacial Indifference Bold"/>
                <a:sym typeface="Glacial Indifference Bold"/>
              </a:rPr>
              <a:t>ANEXOS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DAHMgI7Iowg</dc:identifier>
  <dcterms:modified xsi:type="dcterms:W3CDTF">2011-08-01T06:04:30Z</dcterms:modified>
  <cp:revision>1</cp:revision>
  <dc:title>Actividad 5.3 Banco de ejercicios_AlanRodríguez_PW_8ISCM</dc:title>
</cp:coreProperties>
</file>